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4" r:id="rId4"/>
    <p:sldId id="263" r:id="rId5"/>
    <p:sldId id="275" r:id="rId6"/>
    <p:sldId id="273" r:id="rId7"/>
    <p:sldId id="271" r:id="rId8"/>
    <p:sldId id="259" r:id="rId9"/>
    <p:sldId id="276" r:id="rId10"/>
    <p:sldId id="277" r:id="rId11"/>
    <p:sldId id="278" r:id="rId12"/>
    <p:sldId id="269" r:id="rId13"/>
    <p:sldId id="279" r:id="rId14"/>
    <p:sldId id="257" r:id="rId15"/>
    <p:sldId id="272" r:id="rId16"/>
    <p:sldId id="260" r:id="rId17"/>
    <p:sldId id="261" r:id="rId18"/>
    <p:sldId id="283" r:id="rId19"/>
    <p:sldId id="285" r:id="rId20"/>
    <p:sldId id="282" r:id="rId21"/>
    <p:sldId id="284" r:id="rId22"/>
    <p:sldId id="265" r:id="rId23"/>
  </p:sldIdLst>
  <p:sldSz cx="18288000" cy="10287000"/>
  <p:notesSz cx="6858000" cy="9144000"/>
  <p:embeddedFontLst>
    <p:embeddedFont>
      <p:font typeface="Abadi" panose="020B0604020104020204" pitchFamily="34" charset="0"/>
      <p:regular r:id="rId25"/>
      <p:bold r:id="rId26"/>
      <p:italic r:id="rId27"/>
      <p:boldItalic r:id="rId28"/>
    </p:embeddedFont>
    <p:embeddedFont>
      <p:font typeface="Bebas Neue Cyrillic" panose="020B0604020202020204" charset="0"/>
      <p:regular r:id="rId29"/>
    </p:embeddedFont>
    <p:embeddedFont>
      <p:font typeface="HK Grotesk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5EA0"/>
    <a:srgbClr val="6DB7F2"/>
    <a:srgbClr val="E8E8E8"/>
    <a:srgbClr val="104378"/>
    <a:srgbClr val="45607B"/>
    <a:srgbClr val="000000"/>
    <a:srgbClr val="842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9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9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52FAB-008C-45B6-8BF3-9AC6D7CC4C0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160B6-7B55-4831-9FA8-61F8C9927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06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160B6-7B55-4831-9FA8-61F8C99276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29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">
            <a:extLst>
              <a:ext uri="{FF2B5EF4-FFF2-40B4-BE49-F238E27FC236}">
                <a16:creationId xmlns:a16="http://schemas.microsoft.com/office/drawing/2014/main" id="{4F91D254-8E91-651F-B089-9531DC29A00C}"/>
              </a:ext>
            </a:extLst>
          </p:cNvPr>
          <p:cNvGrpSpPr/>
          <p:nvPr/>
        </p:nvGrpSpPr>
        <p:grpSpPr>
          <a:xfrm rot="-788561">
            <a:off x="6835797" y="-1820950"/>
            <a:ext cx="12687883" cy="12687883"/>
            <a:chOff x="0" y="0"/>
            <a:chExt cx="6350000" cy="6350000"/>
          </a:xfrm>
        </p:grpSpPr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C7FF4E5F-D505-02E3-4C22-7E59B1FEB214}"/>
                </a:ext>
              </a:extLst>
            </p:cNvPr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t="-3563" b="-465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Freeform 4">
            <a:extLst>
              <a:ext uri="{FF2B5EF4-FFF2-40B4-BE49-F238E27FC236}">
                <a16:creationId xmlns:a16="http://schemas.microsoft.com/office/drawing/2014/main" id="{1FE88D91-6D49-D4E1-4E18-FEA65EDFF756}"/>
              </a:ext>
            </a:extLst>
          </p:cNvPr>
          <p:cNvSpPr/>
          <p:nvPr/>
        </p:nvSpPr>
        <p:spPr>
          <a:xfrm>
            <a:off x="12941332" y="1028700"/>
            <a:ext cx="5346668" cy="9258300"/>
          </a:xfrm>
          <a:custGeom>
            <a:avLst/>
            <a:gdLst/>
            <a:ahLst/>
            <a:cxnLst/>
            <a:rect l="l" t="t" r="r" b="b"/>
            <a:pathLst>
              <a:path w="5346668" h="9258300">
                <a:moveTo>
                  <a:pt x="0" y="0"/>
                </a:moveTo>
                <a:lnTo>
                  <a:pt x="5346668" y="0"/>
                </a:lnTo>
                <a:lnTo>
                  <a:pt x="53466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907280" y="1181100"/>
            <a:ext cx="12951719" cy="2554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6600" b="1" dirty="0">
                <a:solidFill>
                  <a:srgbClr val="104378"/>
                </a:solidFill>
                <a:latin typeface="Bebas Neue Cyrillic" panose="020B0604020202020204" charset="0"/>
              </a:rPr>
              <a:t>Hotel</a:t>
            </a:r>
            <a:endParaRPr lang="en-US" sz="13800" b="1" dirty="0">
              <a:solidFill>
                <a:srgbClr val="104378"/>
              </a:solidFill>
              <a:latin typeface="Bebas Neue Cyrillic" panose="020B060402020202020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CFDFF36-592C-CAD8-B8F8-3189079B409F}"/>
              </a:ext>
            </a:extLst>
          </p:cNvPr>
          <p:cNvGrpSpPr/>
          <p:nvPr/>
        </p:nvGrpSpPr>
        <p:grpSpPr>
          <a:xfrm>
            <a:off x="1920011" y="8288800"/>
            <a:ext cx="11275320" cy="959975"/>
            <a:chOff x="1920011" y="8288800"/>
            <a:chExt cx="11275320" cy="959975"/>
          </a:xfrm>
        </p:grpSpPr>
        <p:grpSp>
          <p:nvGrpSpPr>
            <p:cNvPr id="5" name="Group 5"/>
            <p:cNvGrpSpPr/>
            <p:nvPr/>
          </p:nvGrpSpPr>
          <p:grpSpPr>
            <a:xfrm>
              <a:off x="1920011" y="8288800"/>
              <a:ext cx="11275320" cy="959975"/>
              <a:chOff x="0" y="0"/>
              <a:chExt cx="1599781" cy="25283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599781" cy="252833"/>
              </a:xfrm>
              <a:custGeom>
                <a:avLst/>
                <a:gdLst/>
                <a:ahLst/>
                <a:cxnLst/>
                <a:rect l="l" t="t" r="r" b="b"/>
                <a:pathLst>
                  <a:path w="1599781" h="252833">
                    <a:moveTo>
                      <a:pt x="25491" y="0"/>
                    </a:moveTo>
                    <a:lnTo>
                      <a:pt x="1574290" y="0"/>
                    </a:lnTo>
                    <a:cubicBezTo>
                      <a:pt x="1588368" y="0"/>
                      <a:pt x="1599781" y="11413"/>
                      <a:pt x="1599781" y="25491"/>
                    </a:cubicBezTo>
                    <a:lnTo>
                      <a:pt x="1599781" y="227342"/>
                    </a:lnTo>
                    <a:cubicBezTo>
                      <a:pt x="1599781" y="241420"/>
                      <a:pt x="1588368" y="252833"/>
                      <a:pt x="1574290" y="252833"/>
                    </a:cubicBezTo>
                    <a:lnTo>
                      <a:pt x="25491" y="252833"/>
                    </a:lnTo>
                    <a:cubicBezTo>
                      <a:pt x="18731" y="252833"/>
                      <a:pt x="12247" y="250147"/>
                      <a:pt x="7466" y="245367"/>
                    </a:cubicBezTo>
                    <a:cubicBezTo>
                      <a:pt x="2686" y="240586"/>
                      <a:pt x="0" y="234102"/>
                      <a:pt x="0" y="227342"/>
                    </a:cubicBezTo>
                    <a:lnTo>
                      <a:pt x="0" y="25491"/>
                    </a:lnTo>
                    <a:cubicBezTo>
                      <a:pt x="0" y="11413"/>
                      <a:pt x="11413" y="0"/>
                      <a:pt x="25491" y="0"/>
                    </a:cubicBezTo>
                    <a:close/>
                  </a:path>
                </a:pathLst>
              </a:custGeom>
              <a:solidFill>
                <a:srgbClr val="10437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599781" cy="2909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AutoShape 8"/>
            <p:cNvSpPr/>
            <p:nvPr/>
          </p:nvSpPr>
          <p:spPr>
            <a:xfrm flipV="1">
              <a:off x="11011098" y="8768788"/>
              <a:ext cx="1866702" cy="0"/>
            </a:xfrm>
            <a:prstGeom prst="line">
              <a:avLst/>
            </a:prstGeom>
            <a:ln w="57150" cap="flat">
              <a:solidFill>
                <a:srgbClr val="E8E8E8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US" sz="400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3656" y="8540188"/>
              <a:ext cx="8817442" cy="4253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rgbClr val="E8E8E8"/>
                  </a:solidFill>
                  <a:latin typeface="Abadi" panose="020B0604020104020204" pitchFamily="34" charset="0"/>
                </a:rPr>
                <a:t>A Supervised Machine Learning Approach to Pattern Recognition</a:t>
              </a:r>
              <a:endParaRPr lang="en-US" sz="3600" dirty="0">
                <a:solidFill>
                  <a:srgbClr val="E8E8E8"/>
                </a:solidFill>
                <a:latin typeface="Abadi" panose="020B0604020104020204" pitchFamily="34" charset="0"/>
                <a:ea typeface="HK Grotesk"/>
                <a:cs typeface="HK Grotesk"/>
                <a:sym typeface="HK Grotesk"/>
              </a:endParaRPr>
            </a:p>
          </p:txBody>
        </p:sp>
      </p:grpSp>
      <p:sp>
        <p:nvSpPr>
          <p:cNvPr id="25" name="Freeform 9">
            <a:extLst>
              <a:ext uri="{FF2B5EF4-FFF2-40B4-BE49-F238E27FC236}">
                <a16:creationId xmlns:a16="http://schemas.microsoft.com/office/drawing/2014/main" id="{E093F8C1-6E40-135A-D6B1-EB8CE43A48E5}"/>
              </a:ext>
            </a:extLst>
          </p:cNvPr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2072C45E-DE07-5CE4-A715-05B7C1046780}"/>
              </a:ext>
            </a:extLst>
          </p:cNvPr>
          <p:cNvSpPr txBox="1"/>
          <p:nvPr/>
        </p:nvSpPr>
        <p:spPr>
          <a:xfrm>
            <a:off x="1907279" y="3762792"/>
            <a:ext cx="12951719" cy="2123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3800" b="1" dirty="0">
                <a:solidFill>
                  <a:srgbClr val="104378"/>
                </a:solidFill>
                <a:latin typeface="Bebas Neue Cyrillic" panose="020B0604020202020204" charset="0"/>
              </a:rPr>
              <a:t>Booking </a:t>
            </a:r>
            <a:r>
              <a:rPr lang="en-US" sz="13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Cancellation</a:t>
            </a:r>
            <a:r>
              <a:rPr lang="en-US" sz="13800" b="1" dirty="0">
                <a:solidFill>
                  <a:srgbClr val="104378"/>
                </a:solidFill>
                <a:latin typeface="Bebas Neue Cyrillic" panose="020B0604020202020204" charset="0"/>
              </a:rPr>
              <a:t> </a:t>
            </a:r>
          </a:p>
        </p:txBody>
      </p:sp>
      <p:sp>
        <p:nvSpPr>
          <p:cNvPr id="35" name="TextBox 3">
            <a:extLst>
              <a:ext uri="{FF2B5EF4-FFF2-40B4-BE49-F238E27FC236}">
                <a16:creationId xmlns:a16="http://schemas.microsoft.com/office/drawing/2014/main" id="{F9694FF9-0C0F-D835-11FF-C93FD90D584D}"/>
              </a:ext>
            </a:extLst>
          </p:cNvPr>
          <p:cNvSpPr txBox="1"/>
          <p:nvPr/>
        </p:nvSpPr>
        <p:spPr>
          <a:xfrm>
            <a:off x="1920011" y="5819027"/>
            <a:ext cx="12951719" cy="2123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3800" b="1" dirty="0">
                <a:solidFill>
                  <a:srgbClr val="104378"/>
                </a:solidFill>
                <a:latin typeface="Bebas Neue Cyrillic" panose="020B0604020202020204" charset="0"/>
              </a:rPr>
              <a:t>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788561">
            <a:off x="6835797" y="-1820950"/>
            <a:ext cx="12687883" cy="12687883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t="-16666" b="-166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2941332" y="1028700"/>
            <a:ext cx="5346668" cy="9258300"/>
          </a:xfrm>
          <a:custGeom>
            <a:avLst/>
            <a:gdLst/>
            <a:ahLst/>
            <a:cxnLst/>
            <a:rect l="l" t="t" r="r" b="b"/>
            <a:pathLst>
              <a:path w="5346668" h="9258300">
                <a:moveTo>
                  <a:pt x="0" y="0"/>
                </a:moveTo>
                <a:lnTo>
                  <a:pt x="5346668" y="0"/>
                </a:lnTo>
                <a:lnTo>
                  <a:pt x="53466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871366" y="3090987"/>
            <a:ext cx="10015833" cy="1180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99"/>
              </a:lnSpc>
            </a:pPr>
            <a:r>
              <a:rPr lang="en-US" sz="8000" dirty="0">
                <a:solidFill>
                  <a:srgbClr val="104378"/>
                </a:solidFill>
                <a:latin typeface="Bebas Neue Cyrillic" panose="020B0604020202020204" charset="0"/>
              </a:rPr>
              <a:t>The Real-World Problem</a:t>
            </a:r>
            <a:endParaRPr lang="en-US" sz="8000" dirty="0">
              <a:solidFill>
                <a:srgbClr val="104378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71367" y="4305379"/>
            <a:ext cx="8208403" cy="1236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0"/>
              </a:lnSpc>
            </a:pPr>
            <a:r>
              <a:rPr lang="en-US" sz="2800" dirty="0">
                <a:solidFill>
                  <a:srgbClr val="45607B"/>
                </a:solidFill>
                <a:latin typeface="HK Grotesk" panose="020B0604020202020204" charset="0"/>
              </a:rPr>
              <a:t>Hotels suffer from "Revenue Leakage" when guests cancel at the last minute. If a room stays empty, its value for that night </a:t>
            </a:r>
            <a:r>
              <a:rPr lang="en-US" sz="2800" dirty="0">
                <a:solidFill>
                  <a:srgbClr val="104378"/>
                </a:solidFill>
                <a:highlight>
                  <a:srgbClr val="C0C0C0"/>
                </a:highlight>
                <a:latin typeface="HK Grotesk" panose="020B0604020202020204" charset="0"/>
              </a:rPr>
              <a:t>is lost forever.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67890" y="1257300"/>
            <a:ext cx="1349968" cy="1339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</a:t>
            </a:r>
          </a:p>
        </p:txBody>
      </p:sp>
      <p:sp>
        <p:nvSpPr>
          <p:cNvPr id="8" name="AutoShape 8"/>
          <p:cNvSpPr/>
          <p:nvPr/>
        </p:nvSpPr>
        <p:spPr>
          <a:xfrm>
            <a:off x="1871367" y="1817687"/>
            <a:ext cx="6696523" cy="0"/>
          </a:xfrm>
          <a:prstGeom prst="line">
            <a:avLst/>
          </a:prstGeom>
          <a:ln w="76200" cap="flat">
            <a:solidFill>
              <a:srgbClr val="4C74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23F37-33FD-BC85-C9ED-25C7FBA50946}"/>
              </a:ext>
            </a:extLst>
          </p:cNvPr>
          <p:cNvSpPr txBox="1"/>
          <p:nvPr/>
        </p:nvSpPr>
        <p:spPr>
          <a:xfrm>
            <a:off x="1871366" y="5524500"/>
            <a:ext cx="8208403" cy="4226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104378"/>
                </a:solidFill>
                <a:latin typeface="Bebas Neue Cyrillic" panose="020B0604020202020204" charset="0"/>
              </a:rPr>
              <a:t>Our Solution:</a:t>
            </a:r>
            <a:r>
              <a:rPr lang="en-US" sz="4400" dirty="0">
                <a:solidFill>
                  <a:srgbClr val="104378"/>
                </a:solidFill>
                <a:latin typeface="Bebas Neue Cyrillic" panose="020B0604020202020204" charset="0"/>
              </a:rPr>
              <a:t> </a:t>
            </a:r>
          </a:p>
          <a:p>
            <a:pPr>
              <a:lnSpc>
                <a:spcPts val="3240"/>
              </a:lnSpc>
            </a:pPr>
            <a:r>
              <a:rPr lang="en-US" sz="2800" dirty="0">
                <a:solidFill>
                  <a:srgbClr val="45607B"/>
                </a:solidFill>
                <a:latin typeface="HK Grotesk" panose="020B0604020202020204" charset="0"/>
              </a:rPr>
              <a:t>We built a Pattern Recognition system using Machine Learning. By analyzing historical data, the model learns the "patterns" of guests who are likely to cancel (e.g., long lead times, specific countries, or no-deposit bookings). This allows hotel management to take proactive actions, like sending reminders or managing overbookings scientifically.</a:t>
            </a:r>
            <a:endParaRPr lang="en-US" sz="2800" dirty="0">
              <a:solidFill>
                <a:srgbClr val="45607B"/>
              </a:solidFill>
              <a:latin typeface="HK Grotesk" panose="020B0604020202020204" charset="0"/>
              <a:ea typeface="HK Grotesk"/>
              <a:cs typeface="HK Grotesk"/>
              <a:sym typeface="HK Grotesk"/>
            </a:endParaRP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3EFC1-AFEE-98AD-BD35-1665A20D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2CF35D-143C-4DEC-629F-1A09D4638B9A}"/>
              </a:ext>
            </a:extLst>
          </p:cNvPr>
          <p:cNvSpPr/>
          <p:nvPr/>
        </p:nvSpPr>
        <p:spPr>
          <a:xfrm>
            <a:off x="0" y="0"/>
            <a:ext cx="6540207" cy="7694361"/>
          </a:xfrm>
          <a:custGeom>
            <a:avLst/>
            <a:gdLst/>
            <a:ahLst/>
            <a:cxnLst/>
            <a:rect l="l" t="t" r="r" b="b"/>
            <a:pathLst>
              <a:path w="6540207" h="7694361">
                <a:moveTo>
                  <a:pt x="0" y="0"/>
                </a:moveTo>
                <a:lnTo>
                  <a:pt x="6540207" y="0"/>
                </a:lnTo>
                <a:lnTo>
                  <a:pt x="6540207" y="7694361"/>
                </a:lnTo>
                <a:lnTo>
                  <a:pt x="0" y="7694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7FA9C0-A8CB-F59A-5385-7E19D8F7660A}"/>
              </a:ext>
            </a:extLst>
          </p:cNvPr>
          <p:cNvSpPr txBox="1"/>
          <p:nvPr/>
        </p:nvSpPr>
        <p:spPr>
          <a:xfrm>
            <a:off x="6812493" y="2065337"/>
            <a:ext cx="5379507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99"/>
              </a:lnSpc>
            </a:pPr>
            <a:r>
              <a:rPr lang="en-US" sz="9600" dirty="0">
                <a:solidFill>
                  <a:srgbClr val="104378"/>
                </a:solidFill>
                <a:latin typeface="Bebas Neue Cyrillic" panose="020B0604020202020204" charset="0"/>
              </a:rPr>
              <a:t>OUR  TEAM</a:t>
            </a:r>
            <a:endParaRPr lang="en-US" sz="9999" dirty="0">
              <a:solidFill>
                <a:srgbClr val="104378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70BDDC2-080C-8E24-2B2E-98881C0D5E2D}"/>
              </a:ext>
            </a:extLst>
          </p:cNvPr>
          <p:cNvSpPr/>
          <p:nvPr/>
        </p:nvSpPr>
        <p:spPr>
          <a:xfrm flipV="1">
            <a:off x="-1650481" y="6205608"/>
            <a:ext cx="5724244" cy="6734405"/>
          </a:xfrm>
          <a:custGeom>
            <a:avLst/>
            <a:gdLst/>
            <a:ahLst/>
            <a:cxnLst/>
            <a:rect l="l" t="t" r="r" b="b"/>
            <a:pathLst>
              <a:path w="5724244" h="6734405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D0BEBC83-588C-46B4-9EC8-0C2CE58F288E}"/>
              </a:ext>
            </a:extLst>
          </p:cNvPr>
          <p:cNvSpPr txBox="1"/>
          <p:nvPr/>
        </p:nvSpPr>
        <p:spPr>
          <a:xfrm>
            <a:off x="5249653" y="5470635"/>
            <a:ext cx="2575734" cy="88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45607B"/>
                </a:solidFill>
                <a:latin typeface="HK Grotesk" panose="020B0604020202020204" charset="0"/>
                <a:ea typeface="HK Grotesk"/>
                <a:cs typeface="HK Grotesk"/>
                <a:sym typeface="HK Grotesk"/>
              </a:rPr>
              <a:t>Youssef Ayed</a:t>
            </a:r>
            <a:endParaRPr lang="ar-EG" sz="3200" dirty="0">
              <a:solidFill>
                <a:srgbClr val="45607B"/>
              </a:solidFill>
              <a:latin typeface="HK Grotesk" panose="020B0604020202020204" charset="0"/>
              <a:ea typeface="HK Grotesk"/>
              <a:cs typeface="HK Grotesk"/>
              <a:sym typeface="HK Grotesk"/>
            </a:endParaRPr>
          </a:p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104378"/>
                </a:solidFill>
                <a:latin typeface="Bebas Neue Cyrillic" panose="020B0604020202020204" charset="0"/>
              </a:rPr>
              <a:t>2301475</a:t>
            </a:r>
            <a:endParaRPr lang="en-US" sz="3200" dirty="0">
              <a:solidFill>
                <a:srgbClr val="104378"/>
              </a:solidFill>
              <a:latin typeface="Bebas Neue Cyrillic" panose="020B0604020202020204" charset="0"/>
              <a:ea typeface="HK Grotesk"/>
              <a:cs typeface="HK Grotesk"/>
              <a:sym typeface="HK Grotesk"/>
            </a:endParaRPr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2E2CF48D-7F32-5545-4FC8-835B26EDE0FE}"/>
              </a:ext>
            </a:extLst>
          </p:cNvPr>
          <p:cNvSpPr txBox="1"/>
          <p:nvPr/>
        </p:nvSpPr>
        <p:spPr>
          <a:xfrm>
            <a:off x="8575595" y="5470635"/>
            <a:ext cx="2880136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45607B"/>
                </a:solidFill>
              </a:rPr>
              <a:t>Mohamed Karem</a:t>
            </a:r>
            <a:endParaRPr lang="ar-EG" sz="3200" dirty="0">
              <a:solidFill>
                <a:srgbClr val="45607B"/>
              </a:solidFill>
            </a:endParaRPr>
          </a:p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104378"/>
                </a:solidFill>
                <a:latin typeface="Bebas Neue Cyrillic" panose="020B0604020202020204" charset="0"/>
              </a:rPr>
              <a:t>2301788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056E1176-7E99-E796-DA0B-C1BA63A6DAE9}"/>
              </a:ext>
            </a:extLst>
          </p:cNvPr>
          <p:cNvSpPr txBox="1"/>
          <p:nvPr/>
        </p:nvSpPr>
        <p:spPr>
          <a:xfrm>
            <a:off x="11901540" y="5470635"/>
            <a:ext cx="3567060" cy="88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45607B"/>
                </a:solidFill>
              </a:rPr>
              <a:t>Mohamed Mahmoud</a:t>
            </a:r>
            <a:endParaRPr lang="ar-EG" sz="3200" dirty="0">
              <a:solidFill>
                <a:srgbClr val="45607B"/>
              </a:solidFill>
            </a:endParaRPr>
          </a:p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104378"/>
                </a:solidFill>
                <a:latin typeface="Bebas Neue Cyrillic" panose="020B0604020202020204" charset="0"/>
              </a:rPr>
              <a:t>2302068</a:t>
            </a:r>
            <a:endParaRPr lang="en-US" sz="3200" dirty="0">
              <a:solidFill>
                <a:srgbClr val="104378"/>
              </a:solidFill>
              <a:latin typeface="Bebas Neue Cyrillic" panose="020B0604020202020204" charset="0"/>
              <a:ea typeface="HK Grotesk"/>
              <a:cs typeface="HK Grotesk"/>
              <a:sym typeface="HK Grotesk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C2B165EA-FC4E-754F-7B38-A2E6ACE34F0E}"/>
              </a:ext>
            </a:extLst>
          </p:cNvPr>
          <p:cNvSpPr txBox="1"/>
          <p:nvPr/>
        </p:nvSpPr>
        <p:spPr>
          <a:xfrm>
            <a:off x="5249653" y="4449224"/>
            <a:ext cx="1514834" cy="945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 dirty="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47BF0FBE-960E-97F1-A81F-CBD64D29E0A4}"/>
              </a:ext>
            </a:extLst>
          </p:cNvPr>
          <p:cNvSpPr txBox="1"/>
          <p:nvPr/>
        </p:nvSpPr>
        <p:spPr>
          <a:xfrm>
            <a:off x="8575596" y="4449224"/>
            <a:ext cx="1514834" cy="945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575770DF-BFCD-36B9-4D1C-6C3E09DAC3D8}"/>
              </a:ext>
            </a:extLst>
          </p:cNvPr>
          <p:cNvSpPr txBox="1"/>
          <p:nvPr/>
        </p:nvSpPr>
        <p:spPr>
          <a:xfrm>
            <a:off x="11901540" y="4449224"/>
            <a:ext cx="1514834" cy="945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323A71E4-0B9A-B2D8-E897-B03BCE8168B5}"/>
              </a:ext>
            </a:extLst>
          </p:cNvPr>
          <p:cNvSpPr txBox="1"/>
          <p:nvPr/>
        </p:nvSpPr>
        <p:spPr>
          <a:xfrm>
            <a:off x="5249653" y="7836935"/>
            <a:ext cx="2751347" cy="88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45607B"/>
                </a:solidFill>
              </a:rPr>
              <a:t>Asmaa Khaled</a:t>
            </a:r>
            <a:endParaRPr lang="ar-EG" sz="3200" dirty="0">
              <a:solidFill>
                <a:srgbClr val="45607B"/>
              </a:solidFill>
            </a:endParaRPr>
          </a:p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104378"/>
                </a:solidFill>
                <a:latin typeface="Bebas Neue Cyrillic" panose="020B0604020202020204" charset="0"/>
              </a:rPr>
              <a:t>2302018</a:t>
            </a:r>
            <a:endParaRPr lang="en-US" sz="3200" dirty="0">
              <a:solidFill>
                <a:srgbClr val="104378"/>
              </a:solidFill>
              <a:latin typeface="Bebas Neue Cyrillic" panose="020B0604020202020204" charset="0"/>
              <a:ea typeface="HK Grotesk"/>
              <a:cs typeface="HK Grotesk"/>
              <a:sym typeface="HK Grotesk"/>
            </a:endParaRPr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F314C404-0FE6-8740-7931-27619BDB3203}"/>
              </a:ext>
            </a:extLst>
          </p:cNvPr>
          <p:cNvSpPr txBox="1"/>
          <p:nvPr/>
        </p:nvSpPr>
        <p:spPr>
          <a:xfrm>
            <a:off x="5249653" y="6824748"/>
            <a:ext cx="1514834" cy="945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04</a:t>
            </a:r>
          </a:p>
        </p:txBody>
      </p:sp>
      <p:sp>
        <p:nvSpPr>
          <p:cNvPr id="44" name="TextBox 7">
            <a:extLst>
              <a:ext uri="{FF2B5EF4-FFF2-40B4-BE49-F238E27FC236}">
                <a16:creationId xmlns:a16="http://schemas.microsoft.com/office/drawing/2014/main" id="{025ECB8B-A0C5-085C-205C-EA0D91DD7E36}"/>
              </a:ext>
            </a:extLst>
          </p:cNvPr>
          <p:cNvSpPr txBox="1"/>
          <p:nvPr/>
        </p:nvSpPr>
        <p:spPr>
          <a:xfrm>
            <a:off x="8534513" y="7819106"/>
            <a:ext cx="2751347" cy="88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45607B"/>
                </a:solidFill>
              </a:rPr>
              <a:t>Amany Thabet</a:t>
            </a:r>
            <a:endParaRPr lang="ar-EG" sz="3200" dirty="0">
              <a:solidFill>
                <a:srgbClr val="45607B"/>
              </a:solidFill>
            </a:endParaRPr>
          </a:p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104378"/>
                </a:solidFill>
                <a:latin typeface="Bebas Neue Cyrillic" panose="020B0604020202020204" charset="0"/>
              </a:rPr>
              <a:t>2303121</a:t>
            </a:r>
            <a:endParaRPr lang="en-US" sz="3200" dirty="0">
              <a:solidFill>
                <a:srgbClr val="104378"/>
              </a:solidFill>
              <a:latin typeface="Bebas Neue Cyrillic" panose="020B0604020202020204" charset="0"/>
              <a:ea typeface="HK Grotesk"/>
              <a:cs typeface="HK Grotesk"/>
              <a:sym typeface="HK Grotesk"/>
            </a:endParaRPr>
          </a:p>
        </p:txBody>
      </p:sp>
      <p:sp>
        <p:nvSpPr>
          <p:cNvPr id="45" name="TextBox 14">
            <a:extLst>
              <a:ext uri="{FF2B5EF4-FFF2-40B4-BE49-F238E27FC236}">
                <a16:creationId xmlns:a16="http://schemas.microsoft.com/office/drawing/2014/main" id="{347405CA-2232-8B9D-266B-3C9E0A1A07CA}"/>
              </a:ext>
            </a:extLst>
          </p:cNvPr>
          <p:cNvSpPr txBox="1"/>
          <p:nvPr/>
        </p:nvSpPr>
        <p:spPr>
          <a:xfrm>
            <a:off x="8534513" y="6806919"/>
            <a:ext cx="1514834" cy="945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 dirty="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05</a:t>
            </a:r>
          </a:p>
        </p:txBody>
      </p:sp>
      <p:sp>
        <p:nvSpPr>
          <p:cNvPr id="46" name="Freeform 2">
            <a:extLst>
              <a:ext uri="{FF2B5EF4-FFF2-40B4-BE49-F238E27FC236}">
                <a16:creationId xmlns:a16="http://schemas.microsoft.com/office/drawing/2014/main" id="{E0917BBA-C46A-7D6A-1598-278E82ADB07A}"/>
              </a:ext>
            </a:extLst>
          </p:cNvPr>
          <p:cNvSpPr/>
          <p:nvPr/>
        </p:nvSpPr>
        <p:spPr>
          <a:xfrm>
            <a:off x="13842054" y="4584716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0" y="0"/>
                </a:moveTo>
                <a:lnTo>
                  <a:pt x="6328303" y="0"/>
                </a:lnTo>
                <a:lnTo>
                  <a:pt x="6328303" y="5814128"/>
                </a:lnTo>
                <a:lnTo>
                  <a:pt x="0" y="58141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7" name="Group 19">
            <a:extLst>
              <a:ext uri="{FF2B5EF4-FFF2-40B4-BE49-F238E27FC236}">
                <a16:creationId xmlns:a16="http://schemas.microsoft.com/office/drawing/2014/main" id="{29D9AE1F-C5CB-091F-B74A-E6EF581C2BC3}"/>
              </a:ext>
            </a:extLst>
          </p:cNvPr>
          <p:cNvGrpSpPr/>
          <p:nvPr/>
        </p:nvGrpSpPr>
        <p:grpSpPr>
          <a:xfrm>
            <a:off x="12877801" y="1032399"/>
            <a:ext cx="4381500" cy="959975"/>
            <a:chOff x="0" y="0"/>
            <a:chExt cx="1049100" cy="252833"/>
          </a:xfrm>
        </p:grpSpPr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53D2BE11-A6D1-AB47-5CB2-ABAFC93F351C}"/>
                </a:ext>
              </a:extLst>
            </p:cNvPr>
            <p:cNvSpPr/>
            <p:nvPr/>
          </p:nvSpPr>
          <p:spPr>
            <a:xfrm>
              <a:off x="0" y="0"/>
              <a:ext cx="1049100" cy="252833"/>
            </a:xfrm>
            <a:custGeom>
              <a:avLst/>
              <a:gdLst/>
              <a:ahLst/>
              <a:cxnLst/>
              <a:rect l="l" t="t" r="r" b="b"/>
              <a:pathLst>
                <a:path w="1049100" h="252833">
                  <a:moveTo>
                    <a:pt x="38872" y="0"/>
                  </a:moveTo>
                  <a:lnTo>
                    <a:pt x="1010228" y="0"/>
                  </a:lnTo>
                  <a:cubicBezTo>
                    <a:pt x="1031696" y="0"/>
                    <a:pt x="1049100" y="17404"/>
                    <a:pt x="1049100" y="38872"/>
                  </a:cubicBezTo>
                  <a:lnTo>
                    <a:pt x="1049100" y="213961"/>
                  </a:lnTo>
                  <a:cubicBezTo>
                    <a:pt x="1049100" y="235429"/>
                    <a:pt x="1031696" y="252833"/>
                    <a:pt x="1010228" y="252833"/>
                  </a:cubicBezTo>
                  <a:lnTo>
                    <a:pt x="38872" y="252833"/>
                  </a:lnTo>
                  <a:cubicBezTo>
                    <a:pt x="28562" y="252833"/>
                    <a:pt x="18675" y="248737"/>
                    <a:pt x="11385" y="241448"/>
                  </a:cubicBezTo>
                  <a:cubicBezTo>
                    <a:pt x="4095" y="234158"/>
                    <a:pt x="0" y="224270"/>
                    <a:pt x="0" y="213961"/>
                  </a:cubicBezTo>
                  <a:lnTo>
                    <a:pt x="0" y="38872"/>
                  </a:lnTo>
                  <a:cubicBezTo>
                    <a:pt x="0" y="17404"/>
                    <a:pt x="17404" y="0"/>
                    <a:pt x="38872" y="0"/>
                  </a:cubicBezTo>
                  <a:close/>
                </a:path>
              </a:pathLst>
            </a:custGeom>
            <a:solidFill>
              <a:srgbClr val="10437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21">
              <a:extLst>
                <a:ext uri="{FF2B5EF4-FFF2-40B4-BE49-F238E27FC236}">
                  <a16:creationId xmlns:a16="http://schemas.microsoft.com/office/drawing/2014/main" id="{8ED25223-A2F3-C8D2-81C5-87B69CBBB119}"/>
                </a:ext>
              </a:extLst>
            </p:cNvPr>
            <p:cNvSpPr txBox="1"/>
            <p:nvPr/>
          </p:nvSpPr>
          <p:spPr>
            <a:xfrm>
              <a:off x="0" y="-38100"/>
              <a:ext cx="1049100" cy="290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22">
            <a:extLst>
              <a:ext uri="{FF2B5EF4-FFF2-40B4-BE49-F238E27FC236}">
                <a16:creationId xmlns:a16="http://schemas.microsoft.com/office/drawing/2014/main" id="{6F09F1F5-7A1C-CDC8-9FB2-5131EB8E6DC9}"/>
              </a:ext>
            </a:extLst>
          </p:cNvPr>
          <p:cNvSpPr txBox="1"/>
          <p:nvPr/>
        </p:nvSpPr>
        <p:spPr>
          <a:xfrm>
            <a:off x="12908988" y="1364174"/>
            <a:ext cx="2938413" cy="465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4000" dirty="0">
                <a:solidFill>
                  <a:srgbClr val="E8E8E8"/>
                </a:solidFill>
                <a:latin typeface="Bebas Neue Cyrillic" panose="020B0604020202020204" charset="0"/>
              </a:rPr>
              <a:t>Fayoum Branch</a:t>
            </a:r>
            <a:endParaRPr lang="en-US" sz="3600" dirty="0">
              <a:solidFill>
                <a:srgbClr val="E8E8E8"/>
              </a:solidFill>
              <a:latin typeface="Bebas Neue Cyrillic" panose="020B0604020202020204" charset="0"/>
              <a:ea typeface="HK Grotesk"/>
              <a:cs typeface="HK Grotesk"/>
              <a:sym typeface="HK Grotesk"/>
            </a:endParaRPr>
          </a:p>
        </p:txBody>
      </p:sp>
      <p:sp>
        <p:nvSpPr>
          <p:cNvPr id="51" name="AutoShape 23">
            <a:extLst>
              <a:ext uri="{FF2B5EF4-FFF2-40B4-BE49-F238E27FC236}">
                <a16:creationId xmlns:a16="http://schemas.microsoft.com/office/drawing/2014/main" id="{CBA2EA9F-BD15-26CB-BD3B-E70AF4B7BC9D}"/>
              </a:ext>
            </a:extLst>
          </p:cNvPr>
          <p:cNvSpPr/>
          <p:nvPr/>
        </p:nvSpPr>
        <p:spPr>
          <a:xfrm rot="5400000" flipH="1">
            <a:off x="16488030" y="871756"/>
            <a:ext cx="1143" cy="1282402"/>
          </a:xfrm>
          <a:prstGeom prst="line">
            <a:avLst/>
          </a:prstGeom>
          <a:ln w="57150" cap="flat">
            <a:solidFill>
              <a:srgbClr val="6DB7F2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3">
            <a:extLst>
              <a:ext uri="{FF2B5EF4-FFF2-40B4-BE49-F238E27FC236}">
                <a16:creationId xmlns:a16="http://schemas.microsoft.com/office/drawing/2014/main" id="{6AB8A5C6-57D5-2456-5496-0E3CF688A59B}"/>
              </a:ext>
            </a:extLst>
          </p:cNvPr>
          <p:cNvSpPr txBox="1"/>
          <p:nvPr/>
        </p:nvSpPr>
        <p:spPr>
          <a:xfrm>
            <a:off x="9144000" y="800100"/>
            <a:ext cx="1511881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600" dirty="0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sp>
        <p:nvSpPr>
          <p:cNvPr id="55" name="AutoShape 4">
            <a:extLst>
              <a:ext uri="{FF2B5EF4-FFF2-40B4-BE49-F238E27FC236}">
                <a16:creationId xmlns:a16="http://schemas.microsoft.com/office/drawing/2014/main" id="{52661E78-5600-565A-066A-2E5B45038431}"/>
              </a:ext>
            </a:extLst>
          </p:cNvPr>
          <p:cNvSpPr/>
          <p:nvPr/>
        </p:nvSpPr>
        <p:spPr>
          <a:xfrm>
            <a:off x="6812493" y="1360487"/>
            <a:ext cx="2592321" cy="0"/>
          </a:xfrm>
          <a:prstGeom prst="line">
            <a:avLst/>
          </a:prstGeom>
          <a:ln w="76200" cap="flat">
            <a:solidFill>
              <a:srgbClr val="4C74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4389B967-F671-6218-3BB1-B42AECB7C491}"/>
              </a:ext>
            </a:extLst>
          </p:cNvPr>
          <p:cNvSpPr txBox="1"/>
          <p:nvPr/>
        </p:nvSpPr>
        <p:spPr>
          <a:xfrm>
            <a:off x="11901540" y="7851586"/>
            <a:ext cx="2957460" cy="88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45607B"/>
                </a:solidFill>
              </a:rPr>
              <a:t>Khloud Ibrahim</a:t>
            </a:r>
            <a:endParaRPr lang="ar-EG" sz="3200" dirty="0">
              <a:solidFill>
                <a:srgbClr val="45607B"/>
              </a:solidFill>
            </a:endParaRPr>
          </a:p>
          <a:p>
            <a:pPr>
              <a:lnSpc>
                <a:spcPts val="3399"/>
              </a:lnSpc>
            </a:pPr>
            <a:r>
              <a:rPr lang="en-US" sz="3200" dirty="0">
                <a:solidFill>
                  <a:srgbClr val="104378"/>
                </a:solidFill>
                <a:latin typeface="Bebas Neue Cyrillic" panose="020B0604020202020204" charset="0"/>
              </a:rPr>
              <a:t>2303569</a:t>
            </a:r>
            <a:endParaRPr lang="en-US" sz="3200" dirty="0">
              <a:solidFill>
                <a:srgbClr val="104378"/>
              </a:solidFill>
              <a:latin typeface="Bebas Neue Cyrillic" panose="020B0604020202020204" charset="0"/>
              <a:ea typeface="HK Grotesk"/>
              <a:cs typeface="HK Grotesk"/>
              <a:sym typeface="HK Grotesk"/>
            </a:endParaRP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278ACC86-F64B-2AA9-4EB4-C806DE827E12}"/>
              </a:ext>
            </a:extLst>
          </p:cNvPr>
          <p:cNvSpPr txBox="1"/>
          <p:nvPr/>
        </p:nvSpPr>
        <p:spPr>
          <a:xfrm>
            <a:off x="11901540" y="6830175"/>
            <a:ext cx="1514834" cy="945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7053" dirty="0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7604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3203978" y="4609938"/>
            <a:ext cx="3785107" cy="3785107"/>
          </a:xfrm>
          <a:custGeom>
            <a:avLst/>
            <a:gdLst/>
            <a:ahLst/>
            <a:cxnLst/>
            <a:rect l="l" t="t" r="r" b="b"/>
            <a:pathLst>
              <a:path w="3785107" h="3785107">
                <a:moveTo>
                  <a:pt x="0" y="0"/>
                </a:moveTo>
                <a:lnTo>
                  <a:pt x="3785106" y="0"/>
                </a:lnTo>
                <a:lnTo>
                  <a:pt x="3785106" y="3785107"/>
                </a:lnTo>
                <a:lnTo>
                  <a:pt x="0" y="37851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713586" y="4609938"/>
            <a:ext cx="3785107" cy="3785107"/>
          </a:xfrm>
          <a:custGeom>
            <a:avLst/>
            <a:gdLst/>
            <a:ahLst/>
            <a:cxnLst/>
            <a:rect l="l" t="t" r="r" b="b"/>
            <a:pathLst>
              <a:path w="3785107" h="3785107">
                <a:moveTo>
                  <a:pt x="0" y="0"/>
                </a:moveTo>
                <a:lnTo>
                  <a:pt x="3785106" y="0"/>
                </a:lnTo>
                <a:lnTo>
                  <a:pt x="3785106" y="3785107"/>
                </a:lnTo>
                <a:lnTo>
                  <a:pt x="0" y="37851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541222" y="4609938"/>
            <a:ext cx="3785107" cy="3785107"/>
          </a:xfrm>
          <a:custGeom>
            <a:avLst/>
            <a:gdLst/>
            <a:ahLst/>
            <a:cxnLst/>
            <a:rect l="l" t="t" r="r" b="b"/>
            <a:pathLst>
              <a:path w="3785107" h="3785107">
                <a:moveTo>
                  <a:pt x="0" y="0"/>
                </a:moveTo>
                <a:lnTo>
                  <a:pt x="3785106" y="0"/>
                </a:lnTo>
                <a:lnTo>
                  <a:pt x="3785106" y="3785107"/>
                </a:lnTo>
                <a:lnTo>
                  <a:pt x="0" y="37851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372600" y="4609938"/>
            <a:ext cx="3785107" cy="3785107"/>
          </a:xfrm>
          <a:custGeom>
            <a:avLst/>
            <a:gdLst/>
            <a:ahLst/>
            <a:cxnLst/>
            <a:rect l="l" t="t" r="r" b="b"/>
            <a:pathLst>
              <a:path w="3785107" h="3785107">
                <a:moveTo>
                  <a:pt x="0" y="0"/>
                </a:moveTo>
                <a:lnTo>
                  <a:pt x="3785106" y="0"/>
                </a:lnTo>
                <a:lnTo>
                  <a:pt x="3785106" y="3785107"/>
                </a:lnTo>
                <a:lnTo>
                  <a:pt x="0" y="37851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10972800" y="0"/>
            <a:ext cx="7315200" cy="1426464"/>
          </a:xfrm>
          <a:custGeom>
            <a:avLst/>
            <a:gdLst/>
            <a:ahLst/>
            <a:cxnLst/>
            <a:rect l="l" t="t" r="r" b="b"/>
            <a:pathLst>
              <a:path w="7315200" h="1426464">
                <a:moveTo>
                  <a:pt x="7315200" y="1426464"/>
                </a:moveTo>
                <a:lnTo>
                  <a:pt x="0" y="142646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4264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548389" y="1989137"/>
            <a:ext cx="8360400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99"/>
              </a:lnSpc>
            </a:pPr>
            <a:r>
              <a:rPr lang="en-US" sz="9600" dirty="0">
                <a:solidFill>
                  <a:srgbClr val="104378"/>
                </a:solidFill>
                <a:latin typeface="Bebas Neue Cyrillic" panose="020B0604020202020204" charset="0"/>
              </a:rPr>
              <a:t>Project Overview </a:t>
            </a:r>
            <a:endParaRPr lang="en-US" sz="9999" dirty="0">
              <a:solidFill>
                <a:srgbClr val="104378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11" name="Freeform 11"/>
          <p:cNvSpPr/>
          <p:nvPr/>
        </p:nvSpPr>
        <p:spPr>
          <a:xfrm flipV="1">
            <a:off x="-1650481" y="6205608"/>
            <a:ext cx="5724244" cy="6734405"/>
          </a:xfrm>
          <a:custGeom>
            <a:avLst/>
            <a:gdLst/>
            <a:ahLst/>
            <a:cxnLst/>
            <a:rect l="l" t="t" r="r" b="b"/>
            <a:pathLst>
              <a:path w="5724244" h="6734405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3863795" y="5953216"/>
            <a:ext cx="2465473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4000" dirty="0">
                <a:solidFill>
                  <a:srgbClr val="45607B"/>
                </a:solidFill>
                <a:latin typeface="Bebas Neue Cyrillic" panose="020B0604020202020204" charset="0"/>
              </a:rPr>
              <a:t>Model   </a:t>
            </a:r>
            <a:r>
              <a:rPr lang="en-US" sz="4000" dirty="0">
                <a:solidFill>
                  <a:srgbClr val="104378"/>
                </a:solidFill>
                <a:latin typeface="Bebas Neue Cyrillic" panose="020B0604020202020204" charset="0"/>
              </a:rPr>
              <a:t>.4</a:t>
            </a:r>
          </a:p>
          <a:p>
            <a:pPr algn="ctr">
              <a:lnSpc>
                <a:spcPts val="4399"/>
              </a:lnSpc>
            </a:pPr>
            <a:r>
              <a:rPr lang="en-US" sz="4000" dirty="0">
                <a:solidFill>
                  <a:srgbClr val="45607B"/>
                </a:solidFill>
                <a:latin typeface="Bebas Neue Cyrillic" panose="020B0604020202020204" charset="0"/>
              </a:rPr>
              <a:t>Training &amp; Evaluation</a:t>
            </a:r>
            <a:endParaRPr lang="en-US" sz="3999" dirty="0">
              <a:solidFill>
                <a:srgbClr val="45607B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379278" y="5953216"/>
            <a:ext cx="2465473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4000" dirty="0">
                <a:solidFill>
                  <a:srgbClr val="45607B"/>
                </a:solidFill>
                <a:latin typeface="Bebas Neue Cyrillic" panose="020B0604020202020204" charset="0"/>
              </a:rPr>
              <a:t>Data   </a:t>
            </a:r>
            <a:r>
              <a:rPr lang="en-US" sz="4000" dirty="0">
                <a:solidFill>
                  <a:srgbClr val="104378"/>
                </a:solidFill>
                <a:latin typeface="Bebas Neue Cyrillic" panose="020B0604020202020204" charset="0"/>
              </a:rPr>
              <a:t>.1</a:t>
            </a:r>
          </a:p>
          <a:p>
            <a:pPr algn="ctr">
              <a:lnSpc>
                <a:spcPts val="4399"/>
              </a:lnSpc>
            </a:pPr>
            <a:r>
              <a:rPr lang="en-US" sz="4000" dirty="0">
                <a:solidFill>
                  <a:srgbClr val="45607B"/>
                </a:solidFill>
                <a:latin typeface="Bebas Neue Cyrillic" panose="020B0604020202020204" charset="0"/>
              </a:rPr>
              <a:t>Cleaning</a:t>
            </a:r>
            <a:endParaRPr lang="en-US" sz="3999" dirty="0">
              <a:solidFill>
                <a:srgbClr val="45607B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055479" y="5953216"/>
            <a:ext cx="2819399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4000" dirty="0">
                <a:solidFill>
                  <a:srgbClr val="45607B"/>
                </a:solidFill>
                <a:latin typeface="Bebas Neue Cyrillic" panose="020B0604020202020204" charset="0"/>
              </a:rPr>
              <a:t>Exploratory   </a:t>
            </a:r>
            <a:r>
              <a:rPr lang="en-US" sz="4000" dirty="0">
                <a:solidFill>
                  <a:srgbClr val="104378"/>
                </a:solidFill>
                <a:latin typeface="Bebas Neue Cyrillic" panose="020B0604020202020204" charset="0"/>
              </a:rPr>
              <a:t>.2 </a:t>
            </a:r>
            <a:r>
              <a:rPr lang="en-US" sz="4000" dirty="0">
                <a:solidFill>
                  <a:srgbClr val="45607B"/>
                </a:solidFill>
                <a:latin typeface="Bebas Neue Cyrillic" panose="020B0604020202020204" charset="0"/>
              </a:rPr>
              <a:t>Data Analysis</a:t>
            </a:r>
            <a:endParaRPr lang="ar-EG" sz="4000" dirty="0">
              <a:solidFill>
                <a:srgbClr val="45607B"/>
              </a:solidFill>
              <a:latin typeface="Bebas Neue Cyrillic" panose="020B0604020202020204" charset="0"/>
            </a:endParaRPr>
          </a:p>
          <a:p>
            <a:pPr algn="ctr">
              <a:lnSpc>
                <a:spcPts val="4399"/>
              </a:lnSpc>
            </a:pPr>
            <a:r>
              <a:rPr lang="en-US" sz="4000" dirty="0">
                <a:solidFill>
                  <a:srgbClr val="104378"/>
                </a:solidFill>
                <a:latin typeface="Bebas Neue Cyrillic" panose="020B0604020202020204" charset="0"/>
              </a:rPr>
              <a:t>(EDA)</a:t>
            </a:r>
            <a:endParaRPr lang="en-US" sz="3999" dirty="0">
              <a:solidFill>
                <a:srgbClr val="104378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840586" y="5953216"/>
            <a:ext cx="2768093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4000" dirty="0">
                <a:solidFill>
                  <a:srgbClr val="45607B"/>
                </a:solidFill>
                <a:latin typeface="Bebas Neue Cyrillic" panose="020B0604020202020204" charset="0"/>
              </a:rPr>
              <a:t>Feature   </a:t>
            </a:r>
            <a:r>
              <a:rPr lang="en-US" sz="4000" dirty="0">
                <a:solidFill>
                  <a:srgbClr val="104378"/>
                </a:solidFill>
                <a:latin typeface="Bebas Neue Cyrillic" panose="020B0604020202020204" charset="0"/>
              </a:rPr>
              <a:t>.3</a:t>
            </a:r>
            <a:r>
              <a:rPr lang="en-US" sz="4000" dirty="0">
                <a:solidFill>
                  <a:srgbClr val="45607B"/>
                </a:solidFill>
                <a:latin typeface="Bebas Neue Cyrillic" panose="020B0604020202020204" charset="0"/>
              </a:rPr>
              <a:t> Engineering &amp; Pre-processing</a:t>
            </a:r>
            <a:endParaRPr lang="en-US" sz="3999" dirty="0">
              <a:solidFill>
                <a:srgbClr val="45607B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62DBC129-5FCB-4878-5D30-B980D2B54D86}"/>
              </a:ext>
            </a:extLst>
          </p:cNvPr>
          <p:cNvSpPr txBox="1"/>
          <p:nvPr/>
        </p:nvSpPr>
        <p:spPr>
          <a:xfrm>
            <a:off x="7233936" y="603251"/>
            <a:ext cx="1511881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 dirty="0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84B11D0C-A47F-502E-D0D4-0A3A8FEF7A44}"/>
              </a:ext>
            </a:extLst>
          </p:cNvPr>
          <p:cNvSpPr/>
          <p:nvPr/>
        </p:nvSpPr>
        <p:spPr>
          <a:xfrm flipV="1">
            <a:off x="1548517" y="1163639"/>
            <a:ext cx="5685418" cy="19050"/>
          </a:xfrm>
          <a:prstGeom prst="line">
            <a:avLst/>
          </a:prstGeom>
          <a:ln w="76200" cap="flat">
            <a:solidFill>
              <a:srgbClr val="4C74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16721-2A78-5211-B831-ED1F7691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">
            <a:extLst>
              <a:ext uri="{FF2B5EF4-FFF2-40B4-BE49-F238E27FC236}">
                <a16:creationId xmlns:a16="http://schemas.microsoft.com/office/drawing/2014/main" id="{2707BFDF-D3E2-66A6-9CF4-8067C2D6DFE3}"/>
              </a:ext>
            </a:extLst>
          </p:cNvPr>
          <p:cNvSpPr txBox="1"/>
          <p:nvPr/>
        </p:nvSpPr>
        <p:spPr>
          <a:xfrm>
            <a:off x="2667000" y="5002866"/>
            <a:ext cx="9493237" cy="1339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99"/>
              </a:lnSpc>
            </a:pPr>
            <a:r>
              <a:rPr lang="en-US" sz="13800" b="1" dirty="0">
                <a:solidFill>
                  <a:srgbClr val="104378"/>
                </a:solidFill>
                <a:latin typeface="Bebas Neue Cyrillic" panose="020B0604020202020204" charset="0"/>
              </a:rPr>
              <a:t>Data </a:t>
            </a:r>
            <a:r>
              <a:rPr lang="en-US" sz="13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Cleaning</a:t>
            </a:r>
            <a:endParaRPr lang="en-US" sz="16500" b="1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461B34-3118-5BED-830A-29CDCA19D01B}"/>
              </a:ext>
            </a:extLst>
          </p:cNvPr>
          <p:cNvGrpSpPr/>
          <p:nvPr/>
        </p:nvGrpSpPr>
        <p:grpSpPr>
          <a:xfrm rot="-788561">
            <a:off x="6266535" y="-1391014"/>
            <a:ext cx="13069027" cy="13069027"/>
            <a:chOff x="-95377" y="-95377"/>
            <a:chExt cx="6540754" cy="6540754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9713DF84-BEDA-F7A9-82FC-88FF6C1082C9}"/>
                </a:ext>
              </a:extLst>
            </p:cNvPr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t="-25046" b="-2504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1A97A2AF-5618-5203-218B-104BA52C96A4}"/>
              </a:ext>
            </a:extLst>
          </p:cNvPr>
          <p:cNvSpPr/>
          <p:nvPr/>
        </p:nvSpPr>
        <p:spPr>
          <a:xfrm>
            <a:off x="14141406" y="1649208"/>
            <a:ext cx="5346668" cy="9258300"/>
          </a:xfrm>
          <a:custGeom>
            <a:avLst/>
            <a:gdLst/>
            <a:ahLst/>
            <a:cxnLst/>
            <a:rect l="l" t="t" r="r" b="b"/>
            <a:pathLst>
              <a:path w="5346668" h="9258300">
                <a:moveTo>
                  <a:pt x="0" y="0"/>
                </a:moveTo>
                <a:lnTo>
                  <a:pt x="5346668" y="0"/>
                </a:lnTo>
                <a:lnTo>
                  <a:pt x="53466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B2DC4469-8D90-5A79-1D73-FA68A288698B}"/>
              </a:ext>
            </a:extLst>
          </p:cNvPr>
          <p:cNvSpPr/>
          <p:nvPr/>
        </p:nvSpPr>
        <p:spPr>
          <a:xfrm>
            <a:off x="2819882" y="3892360"/>
            <a:ext cx="6696523" cy="0"/>
          </a:xfrm>
          <a:prstGeom prst="line">
            <a:avLst/>
          </a:prstGeom>
          <a:ln w="76200" cap="flat">
            <a:solidFill>
              <a:srgbClr val="4C74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B633894F-1EBD-03EF-5992-A399CD8B57D2}"/>
              </a:ext>
            </a:extLst>
          </p:cNvPr>
          <p:cNvSpPr/>
          <p:nvPr/>
        </p:nvSpPr>
        <p:spPr>
          <a:xfrm flipH="1" flipV="1">
            <a:off x="-3256862" y="-141719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502A8340-709D-D966-3D28-AC967493796C}"/>
              </a:ext>
            </a:extLst>
          </p:cNvPr>
          <p:cNvSpPr txBox="1"/>
          <p:nvPr/>
        </p:nvSpPr>
        <p:spPr>
          <a:xfrm>
            <a:off x="9516405" y="3331973"/>
            <a:ext cx="1349968" cy="1339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9999"/>
              </a:lnSpc>
            </a:pPr>
            <a:r>
              <a:rPr lang="en-US" sz="9999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63097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AF6F6-D257-0FD6-31F3-690936AD0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8">
            <a:extLst>
              <a:ext uri="{FF2B5EF4-FFF2-40B4-BE49-F238E27FC236}">
                <a16:creationId xmlns:a16="http://schemas.microsoft.com/office/drawing/2014/main" id="{C2F11AA4-50F0-51A4-C9EF-3AA875905D5F}"/>
              </a:ext>
            </a:extLst>
          </p:cNvPr>
          <p:cNvSpPr/>
          <p:nvPr/>
        </p:nvSpPr>
        <p:spPr>
          <a:xfrm flipH="1" flipV="1">
            <a:off x="10972800" y="0"/>
            <a:ext cx="7315200" cy="1426464"/>
          </a:xfrm>
          <a:custGeom>
            <a:avLst/>
            <a:gdLst/>
            <a:ahLst/>
            <a:cxnLst/>
            <a:rect l="l" t="t" r="r" b="b"/>
            <a:pathLst>
              <a:path w="7315200" h="1426464">
                <a:moveTo>
                  <a:pt x="7315200" y="1426464"/>
                </a:moveTo>
                <a:lnTo>
                  <a:pt x="0" y="142646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4264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6ADC7CE4-8B9C-8BAB-F219-85138D9FFAE0}"/>
              </a:ext>
            </a:extLst>
          </p:cNvPr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FDF0ABBA-B8BA-8BC7-E805-31818AFDA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56" y="2658454"/>
            <a:ext cx="7763188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104378"/>
                </a:solidFill>
                <a:latin typeface="HK Grotesk" panose="020B0604020202020204" charset="0"/>
              </a:rPr>
              <a:t>Setting up the environment</a:t>
            </a:r>
            <a:r>
              <a:rPr lang="ar-EG" sz="2800" b="1" dirty="0">
                <a:solidFill>
                  <a:srgbClr val="104378"/>
                </a:solidFill>
                <a:latin typeface="HK Grotesk" panose="020B0604020202020204" charset="0"/>
              </a:rPr>
              <a:t>:</a:t>
            </a:r>
            <a:r>
              <a:rPr lang="en-US" sz="2800" b="1" dirty="0">
                <a:solidFill>
                  <a:srgbClr val="104378"/>
                </a:solidFill>
                <a:latin typeface="HK Grotesk" panose="020B0604020202020204" charset="0"/>
              </a:rPr>
              <a:t> 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by mounting Google Drive to acquire and load the Hotel Demand dataset into a Pandas </a:t>
            </a:r>
            <a:r>
              <a:rPr lang="en-US" sz="2400" dirty="0" err="1">
                <a:solidFill>
                  <a:srgbClr val="45607B"/>
                </a:solidFill>
                <a:latin typeface="HK Grotesk" panose="020B0604020202020204" charset="0"/>
              </a:rPr>
              <a:t>DataFrame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.</a:t>
            </a:r>
            <a:endParaRPr lang="ar-EG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indent="-514350">
              <a:buFont typeface="+mj-lt"/>
              <a:buAutoNum type="arabicPeriod"/>
            </a:pPr>
            <a:endParaRPr lang="ar-EG" altLang="en-US" sz="2800" b="1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HK Grotesk" panose="020B0604020202020204" charset="0"/>
              </a:rPr>
              <a:t>Core Data Handling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HK Grotesk" panose="020B060402020202020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Importing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C0C0C0"/>
                </a:highlight>
                <a:latin typeface="HK Grotesk" panose="020B0604020202020204" charset="0"/>
              </a:rPr>
              <a:t>Pandas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C0C0C0"/>
                </a:highlight>
                <a:latin typeface="HK Grotesk" panose="020B0604020202020204" charset="0"/>
              </a:rPr>
              <a:t>NumPy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 for efficient data manipulation and numerical operations. </a:t>
            </a:r>
            <a:endParaRPr kumimoji="0" lang="ar-EG" altLang="en-US" sz="2400" b="0" i="0" u="none" strike="noStrike" cap="none" normalizeH="0" baseline="0" dirty="0">
              <a:ln>
                <a:noFill/>
              </a:ln>
              <a:solidFill>
                <a:srgbClr val="45607B"/>
              </a:solidFill>
              <a:effectLst/>
              <a:latin typeface="HK Grotesk" panose="020B060402020202020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5607B"/>
              </a:solidFill>
              <a:effectLst/>
              <a:latin typeface="HK Grotesk" panose="020B06040202020202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HK Grotesk" panose="020B0604020202020204" charset="0"/>
              </a:rPr>
              <a:t>Data Visualization: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Importing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C0C0C0"/>
                </a:highlight>
                <a:latin typeface="HK Grotesk" panose="020B0604020202020204" charset="0"/>
              </a:rPr>
              <a:t>Matplotlib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C0C0C0"/>
                </a:highlight>
                <a:latin typeface="HK Grotesk" panose="020B0604020202020204" charset="0"/>
              </a:rPr>
              <a:t>Seaborn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 to create graphs and discover visual patterns in hotel data. </a:t>
            </a:r>
            <a:endParaRPr kumimoji="0" lang="ar-EG" altLang="en-US" sz="2400" b="0" i="0" u="none" strike="noStrike" cap="none" normalizeH="0" baseline="0" dirty="0">
              <a:ln>
                <a:noFill/>
              </a:ln>
              <a:solidFill>
                <a:srgbClr val="45607B"/>
              </a:solidFill>
              <a:effectLst/>
              <a:latin typeface="HK Grotesk" panose="020B06040202020202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5607B"/>
              </a:solidFill>
              <a:effectLst/>
              <a:latin typeface="HK Grotesk" panose="020B06040202020202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HK Grotesk" panose="020B0604020202020204" charset="0"/>
              </a:rPr>
              <a:t>Machine Learning 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HK Grotesk" panose="020B060402020202020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Importing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C0C0C0"/>
                </a:highlight>
                <a:latin typeface="HK Grotesk" panose="020B0604020202020204" charset="0"/>
              </a:rPr>
              <a:t>Scikit-Learn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 utilities for data splitting, encoding categories, and training models like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C0C0C0"/>
                </a:highlight>
                <a:latin typeface="HK Grotesk" panose="020B0604020202020204" charset="0"/>
              </a:rPr>
              <a:t>RandomForest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highlight>
                  <a:srgbClr val="C0C0C0"/>
                </a:highlight>
                <a:latin typeface="HK Grotesk" panose="020B0604020202020204" charset="0"/>
              </a:rPr>
              <a:t>DecisionTree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highlight>
                  <a:srgbClr val="C0C0C0"/>
                </a:highlight>
                <a:latin typeface="HK Grotesk" panose="020B0604020202020204" charset="0"/>
              </a:rPr>
              <a:t>. </a:t>
            </a:r>
            <a:endParaRPr kumimoji="0" lang="ar-EG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highlight>
                <a:srgbClr val="C0C0C0"/>
              </a:highlight>
              <a:latin typeface="HK Grotesk" panose="020B06040202020202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highlight>
                <a:srgbClr val="C0C0C0"/>
              </a:highlight>
              <a:latin typeface="HK Grotesk" panose="020B06040202020202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HK Grotesk" panose="020B0604020202020204" charset="0"/>
              </a:rPr>
              <a:t>Display Optimization: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Configuring the environment to suppress software warnings and ensure all dataset columns are visible during analysis.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264EF-B95F-9A4D-6B20-5274409D89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405"/>
          <a:stretch>
            <a:fillRect/>
          </a:stretch>
        </p:blipFill>
        <p:spPr>
          <a:xfrm>
            <a:off x="8763000" y="4950441"/>
            <a:ext cx="8878599" cy="487680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E7A7F530-0130-EB75-FD54-8FE8AA00B0A6}"/>
              </a:ext>
            </a:extLst>
          </p:cNvPr>
          <p:cNvSpPr txBox="1"/>
          <p:nvPr/>
        </p:nvSpPr>
        <p:spPr>
          <a:xfrm>
            <a:off x="2533584" y="424455"/>
            <a:ext cx="6058033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99"/>
              </a:lnSpc>
            </a:pPr>
            <a:r>
              <a:rPr lang="en-US" sz="9600" dirty="0">
                <a:solidFill>
                  <a:srgbClr val="104378"/>
                </a:solidFill>
                <a:latin typeface="Bebas Neue Cyrillic" panose="020B0604020202020204" charset="0"/>
              </a:rPr>
              <a:t>Data </a:t>
            </a:r>
            <a:r>
              <a:rPr 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Cleaning</a:t>
            </a:r>
            <a:endParaRPr lang="en-US" sz="11500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FDCB78-8BFD-7EEC-E5A5-11A97752ACB4}"/>
              </a:ext>
            </a:extLst>
          </p:cNvPr>
          <p:cNvSpPr txBox="1"/>
          <p:nvPr/>
        </p:nvSpPr>
        <p:spPr>
          <a:xfrm>
            <a:off x="1752600" y="1912364"/>
            <a:ext cx="57801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165EA0"/>
                </a:solidFill>
                <a:effectLst/>
                <a:latin typeface="Bebas Neue Cyrillic" panose="020B0604020202020204" charset="0"/>
              </a:rPr>
              <a:t>Step 1: Environment &amp; Library Setup</a:t>
            </a:r>
            <a:endParaRPr kumimoji="0" lang="ar-EG" altLang="en-US" sz="3600" b="1" i="0" u="none" strike="noStrike" cap="none" normalizeH="0" baseline="0" dirty="0">
              <a:ln>
                <a:noFill/>
              </a:ln>
              <a:solidFill>
                <a:srgbClr val="165EA0"/>
              </a:solidFill>
              <a:effectLst/>
              <a:latin typeface="Bebas Neue Cyrillic" panose="020B06040202020202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F45E1A-9B4E-7CDC-30BB-0D0D6303F2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0844" b="-855"/>
          <a:stretch>
            <a:fillRect/>
          </a:stretch>
        </p:blipFill>
        <p:spPr>
          <a:xfrm>
            <a:off x="8743335" y="2727434"/>
            <a:ext cx="8878599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127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0CC53-E64F-E89F-2629-5403361F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8"/>
          <p:cNvSpPr/>
          <p:nvPr/>
        </p:nvSpPr>
        <p:spPr>
          <a:xfrm flipH="1" flipV="1">
            <a:off x="10972800" y="0"/>
            <a:ext cx="7315200" cy="1426464"/>
          </a:xfrm>
          <a:custGeom>
            <a:avLst/>
            <a:gdLst/>
            <a:ahLst/>
            <a:cxnLst/>
            <a:rect l="l" t="t" r="r" b="b"/>
            <a:pathLst>
              <a:path w="7315200" h="1426464">
                <a:moveTo>
                  <a:pt x="7315200" y="1426464"/>
                </a:moveTo>
                <a:lnTo>
                  <a:pt x="0" y="142646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4264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3FE4C6E6-1194-BC5C-4D38-19A5FDD28DDF}"/>
              </a:ext>
            </a:extLst>
          </p:cNvPr>
          <p:cNvSpPr txBox="1"/>
          <p:nvPr/>
        </p:nvSpPr>
        <p:spPr>
          <a:xfrm>
            <a:off x="1009451" y="282700"/>
            <a:ext cx="6058033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99"/>
              </a:lnSpc>
            </a:pPr>
            <a:r>
              <a:rPr lang="en-US" sz="9600" dirty="0">
                <a:solidFill>
                  <a:srgbClr val="104378"/>
                </a:solidFill>
                <a:latin typeface="Bebas Neue Cyrillic" panose="020B0604020202020204" charset="0"/>
              </a:rPr>
              <a:t>Data </a:t>
            </a:r>
            <a:r>
              <a:rPr 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Cleaning</a:t>
            </a:r>
            <a:endParaRPr lang="en-US" sz="11500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D234E8F5-885D-8E0F-BFF2-93793FC00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450" y="1311187"/>
            <a:ext cx="11487349" cy="5832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b="1" dirty="0">
                <a:solidFill>
                  <a:srgbClr val="165EA0"/>
                </a:solidFill>
                <a:latin typeface="Bebas Neue Cyrillic" panose="020B0604020202020204" charset="0"/>
              </a:rPr>
              <a:t>Step 2: Data Exploration &amp; Understanding</a:t>
            </a:r>
            <a:endParaRPr lang="ar-EG" altLang="en-US" sz="1000" b="1" dirty="0">
              <a:solidFill>
                <a:srgbClr val="165EA0"/>
              </a:solidFill>
              <a:latin typeface="Bebas Neue Cyrillic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900" b="1" dirty="0">
              <a:solidFill>
                <a:srgbClr val="165EA0"/>
              </a:solidFill>
              <a:latin typeface="Bebas Neue Cyrillic" panose="020B060402020202020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Initial Data Preview</a:t>
            </a:r>
            <a:r>
              <a:rPr lang="en-US" altLang="en-US" sz="2800" dirty="0">
                <a:solidFill>
                  <a:srgbClr val="45607B"/>
                </a:solidFill>
                <a:latin typeface="HK Grotesk" panose="020B0604020202020204" charset="0"/>
              </a:rPr>
              <a:t>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Using </a:t>
            </a:r>
            <a:r>
              <a:rPr lang="en-US" altLang="en-US" sz="2400" dirty="0" err="1">
                <a:solidFill>
                  <a:srgbClr val="104378"/>
                </a:solidFill>
                <a:highlight>
                  <a:srgbClr val="C0C0C0"/>
                </a:highlight>
                <a:latin typeface="HK Grotesk" panose="020B0604020202020204" charset="0"/>
              </a:rPr>
              <a:t>df.head</a:t>
            </a:r>
            <a:r>
              <a:rPr lang="en-US" altLang="en-US" sz="2400" dirty="0">
                <a:solidFill>
                  <a:srgbClr val="104378"/>
                </a:solidFill>
                <a:highlight>
                  <a:srgbClr val="C0C0C0"/>
                </a:highlight>
                <a:latin typeface="HK Grotesk" panose="020B0604020202020204" charset="0"/>
              </a:rPr>
              <a:t>()</a:t>
            </a:r>
            <a:r>
              <a:rPr lang="en-US" altLang="en-US" sz="2400" dirty="0">
                <a:solidFill>
                  <a:srgbClr val="104378"/>
                </a:solidFill>
                <a:latin typeface="HK Grotesk" panose="020B0604020202020204" charset="0"/>
              </a:rPr>
              <a:t>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to display the first five rows of the dataset, providing an immediate look at features like booking types, lead times, and guest details. </a:t>
            </a:r>
            <a:endParaRPr lang="ar-EG" altLang="en-US" sz="105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Structural Overview</a:t>
            </a:r>
            <a:r>
              <a:rPr lang="en-US" altLang="en-US" sz="2800" dirty="0">
                <a:solidFill>
                  <a:srgbClr val="104378"/>
                </a:solidFill>
                <a:latin typeface="HK Grotesk" panose="020B0604020202020204" charset="0"/>
              </a:rPr>
              <a:t>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The </a:t>
            </a:r>
            <a:r>
              <a:rPr lang="en-US" altLang="en-US" sz="2400" dirty="0">
                <a:solidFill>
                  <a:srgbClr val="104378"/>
                </a:solidFill>
                <a:highlight>
                  <a:srgbClr val="C0C0C0"/>
                </a:highlight>
                <a:latin typeface="HK Grotesk" panose="020B0604020202020204" charset="0"/>
              </a:rPr>
              <a:t>df.info()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command confirms the dataset consists of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119,390 entries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 across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32 columns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. </a:t>
            </a:r>
            <a:endParaRPr lang="ar-EG" altLang="en-US" sz="105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Data Diversity</a:t>
            </a:r>
            <a:r>
              <a:rPr lang="en-US" altLang="en-US" sz="2800" dirty="0">
                <a:solidFill>
                  <a:srgbClr val="104378"/>
                </a:solidFill>
                <a:latin typeface="HK Grotesk" panose="020B0604020202020204" charset="0"/>
              </a:rPr>
              <a:t>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The dataset contains a mix of data types, including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12 categorical (object)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,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16 integer (int64)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, and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4 floating-point (</a:t>
            </a:r>
            <a:r>
              <a:rPr lang="en-US" altLang="en-US" sz="2400" b="1" dirty="0">
                <a:solidFill>
                  <a:srgbClr val="104378"/>
                </a:solidFill>
                <a:latin typeface="HK Grotesk" panose="020B0604020202020204" charset="0"/>
              </a:rPr>
              <a:t>float64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)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 columns. </a:t>
            </a:r>
            <a:endParaRPr lang="ar-EG" altLang="en-US" sz="105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Identifying Missing Values</a:t>
            </a:r>
            <a:r>
              <a:rPr lang="en-US" altLang="en-US" sz="2800" dirty="0">
                <a:solidFill>
                  <a:srgbClr val="104378"/>
                </a:solidFill>
                <a:latin typeface="HK Grotesk" panose="020B0604020202020204" charset="0"/>
              </a:rPr>
              <a:t>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Initial inspection reveals missing data in critical columns such as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children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,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country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,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agent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, and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company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, which will require cleaning in subsequent steps.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B003893-5696-DF49-062B-826B00C10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0890" y="501392"/>
            <a:ext cx="4923019" cy="65471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241EBBD-D70E-984C-FF59-BFDFB2696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50" y="7219950"/>
            <a:ext cx="169164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04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2">
            <a:extLst>
              <a:ext uri="{FF2B5EF4-FFF2-40B4-BE49-F238E27FC236}">
                <a16:creationId xmlns:a16="http://schemas.microsoft.com/office/drawing/2014/main" id="{D30AD646-A3A1-575D-D5EB-DD67A2BEB8A2}"/>
              </a:ext>
            </a:extLst>
          </p:cNvPr>
          <p:cNvSpPr/>
          <p:nvPr/>
        </p:nvSpPr>
        <p:spPr>
          <a:xfrm flipH="1">
            <a:off x="11747793" y="0"/>
            <a:ext cx="6540207" cy="7694361"/>
          </a:xfrm>
          <a:custGeom>
            <a:avLst/>
            <a:gdLst/>
            <a:ahLst/>
            <a:cxnLst/>
            <a:rect l="l" t="t" r="r" b="b"/>
            <a:pathLst>
              <a:path w="6540207" h="7694361">
                <a:moveTo>
                  <a:pt x="0" y="0"/>
                </a:moveTo>
                <a:lnTo>
                  <a:pt x="6540207" y="0"/>
                </a:lnTo>
                <a:lnTo>
                  <a:pt x="6540207" y="7694361"/>
                </a:lnTo>
                <a:lnTo>
                  <a:pt x="0" y="7694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4" name="TextBox 2">
            <a:extLst>
              <a:ext uri="{FF2B5EF4-FFF2-40B4-BE49-F238E27FC236}">
                <a16:creationId xmlns:a16="http://schemas.microsoft.com/office/drawing/2014/main" id="{CA484D3D-C235-E094-4859-7AE08782F99B}"/>
              </a:ext>
            </a:extLst>
          </p:cNvPr>
          <p:cNvSpPr txBox="1"/>
          <p:nvPr/>
        </p:nvSpPr>
        <p:spPr>
          <a:xfrm>
            <a:off x="600973" y="515918"/>
            <a:ext cx="6058033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99"/>
              </a:lnSpc>
            </a:pPr>
            <a:r>
              <a:rPr lang="en-US" sz="9600" dirty="0">
                <a:solidFill>
                  <a:srgbClr val="104378"/>
                </a:solidFill>
                <a:latin typeface="Bebas Neue Cyrillic" panose="020B0604020202020204" charset="0"/>
              </a:rPr>
              <a:t>Data Cleaning</a:t>
            </a:r>
            <a:endParaRPr lang="en-US" sz="11500" dirty="0">
              <a:solidFill>
                <a:srgbClr val="104378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C56DD5AD-24A2-3011-C49D-AAE1F6788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0" y="2776333"/>
            <a:ext cx="4924959" cy="2999925"/>
          </a:xfrm>
          <a:prstGeom prst="rect">
            <a:avLst/>
          </a:prstGeom>
        </p:spPr>
      </p:pic>
      <p:sp>
        <p:nvSpPr>
          <p:cNvPr id="87" name="Rectangle 2">
            <a:extLst>
              <a:ext uri="{FF2B5EF4-FFF2-40B4-BE49-F238E27FC236}">
                <a16:creationId xmlns:a16="http://schemas.microsoft.com/office/drawing/2014/main" id="{79BDE2A9-3674-1769-3C3B-F7032473E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73" y="1621274"/>
            <a:ext cx="1114682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165EA0"/>
                </a:solidFill>
                <a:latin typeface="Bebas Neue Cyrillic" panose="020B0604020202020204" charset="0"/>
              </a:rPr>
              <a:t>Step 3: Removing Duplicates</a:t>
            </a:r>
            <a:endParaRPr lang="ar-EG" sz="3600" dirty="0">
              <a:solidFill>
                <a:srgbClr val="165EA0"/>
              </a:solidFill>
              <a:latin typeface="Bebas Neue Cyrillic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ar-EG" altLang="en-US" sz="2800" b="1" i="0" u="none" strike="noStrike" cap="none" normalizeH="0" baseline="0" dirty="0">
              <a:ln>
                <a:noFill/>
              </a:ln>
              <a:solidFill>
                <a:srgbClr val="104378"/>
              </a:solidFill>
              <a:effectLst/>
              <a:latin typeface="Bebas Neue Cyrillic" panose="020B060402020202020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104378"/>
                </a:solidFill>
                <a:effectLst/>
                <a:latin typeface="HK Grotesk" panose="020B0604020202020204" charset="0"/>
              </a:rPr>
              <a:t>Detecting Duplicates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04378"/>
                </a:solidFill>
                <a:effectLst/>
                <a:latin typeface="HK Grotesk" panose="020B060402020202020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We use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df.duplicated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().any() to check if there are any identical rows in the dataset, which returned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True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04378"/>
                </a:solidFill>
                <a:effectLst/>
                <a:latin typeface="HK Grotesk" panose="020B0604020202020204" charset="0"/>
              </a:rPr>
              <a:t>Quantifying Noise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04378"/>
                </a:solidFill>
                <a:effectLst/>
                <a:latin typeface="HK Grotesk" panose="020B060402020202020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The sum() function reveals that there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32,039 duplicate records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, representing redundant information that could bias our pattern recognition.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104378"/>
                </a:solidFill>
                <a:effectLst/>
                <a:latin typeface="HK Grotesk" panose="020B0604020202020204" charset="0"/>
              </a:rPr>
              <a:t>Data Purification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04378"/>
                </a:solidFill>
                <a:effectLst/>
                <a:latin typeface="HK Grotesk" panose="020B0604020202020204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We execute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df.drop_duplicates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() to remove these redundant entries, ensuring that each booking in the final dataset is unique and the model learns from actual individual behaviors</a:t>
            </a:r>
          </a:p>
        </p:txBody>
      </p:sp>
      <p:sp>
        <p:nvSpPr>
          <p:cNvPr id="88" name="Freeform 11"/>
          <p:cNvSpPr/>
          <p:nvPr/>
        </p:nvSpPr>
        <p:spPr>
          <a:xfrm flipV="1">
            <a:off x="-1650481" y="6205608"/>
            <a:ext cx="5724244" cy="6734405"/>
          </a:xfrm>
          <a:custGeom>
            <a:avLst/>
            <a:gdLst/>
            <a:ahLst/>
            <a:cxnLst/>
            <a:rect l="l" t="t" r="r" b="b"/>
            <a:pathLst>
              <a:path w="5724244" h="6734405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4D235428-AF3A-1066-E74C-22949115E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73" y="5776258"/>
            <a:ext cx="1077881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165EA0"/>
                </a:solidFill>
                <a:latin typeface="Bebas Neue Cyrillic" panose="020B0604020202020204" charset="0"/>
              </a:rPr>
              <a:t>Step 4: Drop Unnecessary Columns.</a:t>
            </a:r>
            <a:endParaRPr lang="ar-EG" sz="3600" dirty="0">
              <a:solidFill>
                <a:srgbClr val="165EA0"/>
              </a:solidFill>
              <a:latin typeface="Bebas Neue Cyrillic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ar-EG" altLang="en-US" sz="2400" i="0" u="none" strike="noStrike" cap="none" normalizeH="0" baseline="0" dirty="0">
              <a:ln>
                <a:noFill/>
              </a:ln>
              <a:solidFill>
                <a:srgbClr val="45607B"/>
              </a:solidFill>
              <a:effectLst/>
              <a:latin typeface="HK Grotesk" panose="020B060402020202020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104378"/>
                </a:solidFill>
                <a:effectLst/>
                <a:latin typeface="HK Grotesk" panose="020B0604020202020204" charset="0"/>
              </a:rPr>
              <a:t>Action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104378"/>
                </a:solidFill>
                <a:effectLst/>
                <a:latin typeface="HK Grotesk" panose="020B0604020202020204" charset="0"/>
              </a:rPr>
              <a:t>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Dropping records where the Average Daily Rate (ADR) is negative.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104378"/>
                </a:solidFill>
                <a:effectLst/>
                <a:latin typeface="HK Grotesk" panose="020B0604020202020204" charset="0"/>
              </a:rPr>
              <a:t>Purpose: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Negative prices are data entry errors that distort revenue-based predictions.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104378"/>
                </a:solidFill>
                <a:effectLst/>
                <a:latin typeface="HK Grotesk" panose="020B0604020202020204" charset="0"/>
              </a:rPr>
              <a:t>Verification: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45607B"/>
                </a:solidFill>
                <a:effectLst/>
                <a:latin typeface="HK Grotesk" panose="020B0604020202020204" charset="0"/>
              </a:rPr>
              <a:t>Ensuring the numerical range of our features is realistic before proceeding to the scaling phase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45607B"/>
              </a:solidFill>
              <a:effectLst/>
              <a:latin typeface="HK Grotesk" panose="020B0604020202020204" charset="0"/>
            </a:endParaRP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12828E7-F6F9-1A5E-2F2A-B6EEF5C4A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2143" y="6743700"/>
            <a:ext cx="4928616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FF72F2-13BF-114A-9EE1-57D8254E9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2">
            <a:extLst>
              <a:ext uri="{FF2B5EF4-FFF2-40B4-BE49-F238E27FC236}">
                <a16:creationId xmlns:a16="http://schemas.microsoft.com/office/drawing/2014/main" id="{C5592D28-41A0-B8CA-50C4-75A767C01C8D}"/>
              </a:ext>
            </a:extLst>
          </p:cNvPr>
          <p:cNvSpPr/>
          <p:nvPr/>
        </p:nvSpPr>
        <p:spPr>
          <a:xfrm flipH="1">
            <a:off x="11747793" y="0"/>
            <a:ext cx="6540207" cy="7694361"/>
          </a:xfrm>
          <a:custGeom>
            <a:avLst/>
            <a:gdLst/>
            <a:ahLst/>
            <a:cxnLst/>
            <a:rect l="l" t="t" r="r" b="b"/>
            <a:pathLst>
              <a:path w="6540207" h="7694361">
                <a:moveTo>
                  <a:pt x="0" y="0"/>
                </a:moveTo>
                <a:lnTo>
                  <a:pt x="6540207" y="0"/>
                </a:lnTo>
                <a:lnTo>
                  <a:pt x="6540207" y="7694361"/>
                </a:lnTo>
                <a:lnTo>
                  <a:pt x="0" y="7694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4" name="TextBox 2">
            <a:extLst>
              <a:ext uri="{FF2B5EF4-FFF2-40B4-BE49-F238E27FC236}">
                <a16:creationId xmlns:a16="http://schemas.microsoft.com/office/drawing/2014/main" id="{A574F2B1-A2EF-B0FD-5606-477E59D07F2B}"/>
              </a:ext>
            </a:extLst>
          </p:cNvPr>
          <p:cNvSpPr txBox="1"/>
          <p:nvPr/>
        </p:nvSpPr>
        <p:spPr>
          <a:xfrm>
            <a:off x="600973" y="515918"/>
            <a:ext cx="6058033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99"/>
              </a:lnSpc>
            </a:pPr>
            <a:r>
              <a:rPr lang="en-US" sz="9600" dirty="0">
                <a:solidFill>
                  <a:srgbClr val="104378"/>
                </a:solidFill>
                <a:latin typeface="Bebas Neue Cyrillic" panose="020B0604020202020204" charset="0"/>
              </a:rPr>
              <a:t>Data </a:t>
            </a:r>
            <a:r>
              <a:rPr 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Cleaning</a:t>
            </a:r>
            <a:endParaRPr lang="en-US" sz="11500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87" name="Rectangle 2">
            <a:extLst>
              <a:ext uri="{FF2B5EF4-FFF2-40B4-BE49-F238E27FC236}">
                <a16:creationId xmlns:a16="http://schemas.microsoft.com/office/drawing/2014/main" id="{4483D99A-72DD-57BF-F931-3FA9F755E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73" y="1798320"/>
            <a:ext cx="1114682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165EA0"/>
                </a:solidFill>
                <a:latin typeface="Bebas Neue Cyrillic" panose="020B0604020202020204" charset="0"/>
              </a:rPr>
              <a:t>Step 5: Handle Missing Values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Identifying Gaps: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We execute </a:t>
            </a:r>
            <a:r>
              <a:rPr lang="en-US" altLang="en-US" sz="2400" dirty="0" err="1">
                <a:solidFill>
                  <a:srgbClr val="104378"/>
                </a:solidFill>
                <a:highlight>
                  <a:srgbClr val="C0C0C0"/>
                </a:highlight>
                <a:latin typeface="HK Grotesk" panose="020B0604020202020204" charset="0"/>
              </a:rPr>
              <a:t>df.isna</a:t>
            </a:r>
            <a:r>
              <a:rPr lang="en-US" altLang="en-US" sz="2400" dirty="0">
                <a:solidFill>
                  <a:srgbClr val="104378"/>
                </a:solidFill>
                <a:highlight>
                  <a:srgbClr val="C0C0C0"/>
                </a:highlight>
                <a:latin typeface="HK Grotesk" panose="020B0604020202020204" charset="0"/>
              </a:rPr>
              <a:t>().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sum() to calculate the total number of missing entries across the dataset. 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Statistical Analysis</a:t>
            </a:r>
            <a:r>
              <a:rPr lang="en-US" altLang="en-US" sz="2800" dirty="0">
                <a:solidFill>
                  <a:srgbClr val="104378"/>
                </a:solidFill>
                <a:latin typeface="HK Grotesk" panose="020B0604020202020204" charset="0"/>
              </a:rPr>
              <a:t>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We calculate the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mean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 of the children column, which results in a decimal (~0.104). 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Imputation Strategy</a:t>
            </a:r>
            <a:r>
              <a:rPr lang="en-US" altLang="en-US" sz="2800" dirty="0">
                <a:solidFill>
                  <a:srgbClr val="104378"/>
                </a:solidFill>
                <a:latin typeface="HK Grotesk" panose="020B0604020202020204" charset="0"/>
              </a:rPr>
              <a:t>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Since a count of children must be a whole number, this statistical check helps us decide that filling missing values with the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Mode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 or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Median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 (0) is more logical than using the mean.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ar-EG" altLang="en-US" sz="2400" b="1" i="0" u="none" strike="noStrike" cap="none" normalizeH="0" baseline="0" dirty="0">
              <a:ln>
                <a:noFill/>
              </a:ln>
              <a:solidFill>
                <a:srgbClr val="45607B"/>
              </a:solidFill>
              <a:effectLst/>
              <a:latin typeface="HK Grotesk" panose="020B0604020202020204" charset="0"/>
            </a:endParaRPr>
          </a:p>
        </p:txBody>
      </p:sp>
      <p:sp>
        <p:nvSpPr>
          <p:cNvPr id="88" name="Freeform 11">
            <a:extLst>
              <a:ext uri="{FF2B5EF4-FFF2-40B4-BE49-F238E27FC236}">
                <a16:creationId xmlns:a16="http://schemas.microsoft.com/office/drawing/2014/main" id="{1CEE6A79-D978-8AA4-CAD4-BE3AC1D2F717}"/>
              </a:ext>
            </a:extLst>
          </p:cNvPr>
          <p:cNvSpPr/>
          <p:nvPr/>
        </p:nvSpPr>
        <p:spPr>
          <a:xfrm flipV="1">
            <a:off x="-1650481" y="6205608"/>
            <a:ext cx="5724244" cy="6734405"/>
          </a:xfrm>
          <a:custGeom>
            <a:avLst/>
            <a:gdLst/>
            <a:ahLst/>
            <a:cxnLst/>
            <a:rect l="l" t="t" r="r" b="b"/>
            <a:pathLst>
              <a:path w="5724244" h="6734405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2157E3A6-C792-9CC6-4D82-EF324FDA9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74" y="5712916"/>
            <a:ext cx="856157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dirty="0">
                <a:solidFill>
                  <a:srgbClr val="165EA0"/>
                </a:solidFill>
                <a:latin typeface="Bebas Neue Cyrillic" panose="020B0604020202020204" charset="0"/>
              </a:rPr>
              <a:t>Step 6: </a:t>
            </a:r>
            <a:r>
              <a:rPr lang="en-US" altLang="en-US" sz="3600" b="1" dirty="0">
                <a:solidFill>
                  <a:srgbClr val="165EA0"/>
                </a:solidFill>
                <a:latin typeface="Bebas Neue Cyrillic" panose="020B0604020202020204" charset="0"/>
              </a:rPr>
              <a:t>Categorical Label Encoding</a:t>
            </a:r>
            <a:endParaRPr lang="ar-EG" altLang="en-US" sz="3600" b="1" dirty="0">
              <a:solidFill>
                <a:srgbClr val="165EA0"/>
              </a:solidFill>
              <a:latin typeface="Bebas Neue Cyrillic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Action</a:t>
            </a:r>
            <a:r>
              <a:rPr lang="en-US" altLang="en-US" sz="2800" dirty="0">
                <a:solidFill>
                  <a:srgbClr val="104378"/>
                </a:solidFill>
                <a:latin typeface="HK Grotesk" panose="020B0604020202020204" charset="0"/>
              </a:rPr>
              <a:t>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Transforming text-based categories into machine-readable integers. 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Method</a:t>
            </a:r>
            <a:r>
              <a:rPr lang="en-US" altLang="en-US" sz="2400" dirty="0">
                <a:solidFill>
                  <a:srgbClr val="104378"/>
                </a:solidFill>
                <a:latin typeface="HK Grotesk" panose="020B0604020202020204" charset="0"/>
              </a:rPr>
              <a:t>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Applying </a:t>
            </a:r>
            <a:r>
              <a:rPr lang="en-US" altLang="en-US" sz="2400" dirty="0" err="1">
                <a:solidFill>
                  <a:srgbClr val="45607B"/>
                </a:solidFill>
                <a:latin typeface="HK Grotesk" panose="020B0604020202020204" charset="0"/>
              </a:rPr>
              <a:t>LabelEncoder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 across 12 key features, including </a:t>
            </a:r>
            <a:r>
              <a:rPr lang="en-US" altLang="en-US" sz="2400" dirty="0" err="1">
                <a:solidFill>
                  <a:srgbClr val="45607B"/>
                </a:solidFill>
                <a:latin typeface="HK Grotesk" panose="020B0604020202020204" charset="0"/>
              </a:rPr>
              <a:t>market_segment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 and country. 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Outcome</a:t>
            </a:r>
            <a:r>
              <a:rPr lang="en-US" altLang="en-US" sz="2800" dirty="0">
                <a:solidFill>
                  <a:srgbClr val="104378"/>
                </a:solidFill>
                <a:latin typeface="HK Grotesk" panose="020B0604020202020204" charset="0"/>
              </a:rPr>
              <a:t>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Converts qualitative labels into numerical inputs required for mathematical model training.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45607B"/>
              </a:solidFill>
              <a:effectLst/>
              <a:latin typeface="HK Grotesk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466B99-8C3B-659D-4AF1-3567632D3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4585" y="2781300"/>
            <a:ext cx="4928615" cy="26133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6F386A-7385-F274-4F4B-F1BA702314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629"/>
          <a:stretch>
            <a:fillRect/>
          </a:stretch>
        </p:blipFill>
        <p:spPr>
          <a:xfrm>
            <a:off x="9166060" y="6657527"/>
            <a:ext cx="8817140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08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C6665-CD07-C552-A584-76E61FFA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7">
            <a:extLst>
              <a:ext uri="{FF2B5EF4-FFF2-40B4-BE49-F238E27FC236}">
                <a16:creationId xmlns:a16="http://schemas.microsoft.com/office/drawing/2014/main" id="{8D8A1304-B7F3-01B4-5201-557F4AF6A0D1}"/>
              </a:ext>
            </a:extLst>
          </p:cNvPr>
          <p:cNvSpPr/>
          <p:nvPr/>
        </p:nvSpPr>
        <p:spPr>
          <a:xfrm>
            <a:off x="2602653" y="3829556"/>
            <a:ext cx="6696523" cy="0"/>
          </a:xfrm>
          <a:prstGeom prst="line">
            <a:avLst/>
          </a:prstGeom>
          <a:ln w="76200" cap="flat">
            <a:solidFill>
              <a:srgbClr val="4C74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626DFFED-2B90-A2C0-5FB5-AAF9033336F0}"/>
              </a:ext>
            </a:extLst>
          </p:cNvPr>
          <p:cNvSpPr txBox="1"/>
          <p:nvPr/>
        </p:nvSpPr>
        <p:spPr>
          <a:xfrm>
            <a:off x="9299176" y="3269169"/>
            <a:ext cx="1349968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9999"/>
              </a:lnSpc>
            </a:pPr>
            <a:r>
              <a:rPr lang="en-US" sz="9999" dirty="0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grpSp>
        <p:nvGrpSpPr>
          <p:cNvPr id="3" name="Group 2"/>
          <p:cNvGrpSpPr/>
          <p:nvPr/>
        </p:nvGrpSpPr>
        <p:grpSpPr>
          <a:xfrm rot="-788561">
            <a:off x="6835797" y="-1820950"/>
            <a:ext cx="12687883" cy="12687883"/>
            <a:chOff x="0" y="0"/>
            <a:chExt cx="6350000" cy="6350000"/>
          </a:xfrm>
        </p:grpSpPr>
        <p:sp>
          <p:nvSpPr>
            <p:cNvPr id="5" name="Freeform 3"/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t="-25046" b="-2504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4"/>
          <p:cNvSpPr/>
          <p:nvPr/>
        </p:nvSpPr>
        <p:spPr>
          <a:xfrm>
            <a:off x="12941332" y="1028700"/>
            <a:ext cx="5346668" cy="9258300"/>
          </a:xfrm>
          <a:custGeom>
            <a:avLst/>
            <a:gdLst/>
            <a:ahLst/>
            <a:cxnLst/>
            <a:rect l="l" t="t" r="r" b="b"/>
            <a:pathLst>
              <a:path w="5346668" h="9258300">
                <a:moveTo>
                  <a:pt x="0" y="0"/>
                </a:moveTo>
                <a:lnTo>
                  <a:pt x="5346668" y="0"/>
                </a:lnTo>
                <a:lnTo>
                  <a:pt x="53466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4608E7-0EA7-6CB3-920A-70F472EDE0C6}"/>
              </a:ext>
            </a:extLst>
          </p:cNvPr>
          <p:cNvSpPr txBox="1"/>
          <p:nvPr/>
        </p:nvSpPr>
        <p:spPr>
          <a:xfrm>
            <a:off x="2286000" y="4134356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104378"/>
                </a:solidFill>
                <a:latin typeface="Bebas Neue Cyrillic" panose="020B0604020202020204" charset="0"/>
              </a:rPr>
              <a:t>Exploratory </a:t>
            </a:r>
            <a:r>
              <a:rPr 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Data</a:t>
            </a:r>
            <a:r>
              <a:rPr lang="en-US" sz="9600" b="1" dirty="0">
                <a:solidFill>
                  <a:srgbClr val="104378"/>
                </a:solidFill>
                <a:latin typeface="Bebas Neue Cyrillic" panose="020B0604020202020204" charset="0"/>
              </a:rPr>
              <a:t> Analysis </a:t>
            </a:r>
            <a:r>
              <a:rPr 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(EDA)</a:t>
            </a:r>
            <a:endParaRPr lang="en-US" sz="9600" b="1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</p:spTree>
    <p:extLst>
      <p:ext uri="{BB962C8B-B14F-4D97-AF65-F5344CB8AC3E}">
        <p14:creationId xmlns:p14="http://schemas.microsoft.com/office/powerpoint/2010/main" val="1756032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B7D88-4E3E-D72A-D4CF-1C4D3238A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EC0411B0-B0D6-E3DD-82CA-C94D2B63DBCD}"/>
              </a:ext>
            </a:extLst>
          </p:cNvPr>
          <p:cNvSpPr/>
          <p:nvPr/>
        </p:nvSpPr>
        <p:spPr>
          <a:xfrm flipH="1" flipV="1">
            <a:off x="10972800" y="0"/>
            <a:ext cx="7315200" cy="1426464"/>
          </a:xfrm>
          <a:custGeom>
            <a:avLst/>
            <a:gdLst/>
            <a:ahLst/>
            <a:cxnLst/>
            <a:rect l="l" t="t" r="r" b="b"/>
            <a:pathLst>
              <a:path w="7315200" h="1426464">
                <a:moveTo>
                  <a:pt x="7315200" y="1426464"/>
                </a:moveTo>
                <a:lnTo>
                  <a:pt x="0" y="142646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4264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40F7CD-7CFA-E04E-9567-4A4DE6311909}"/>
              </a:ext>
            </a:extLst>
          </p:cNvPr>
          <p:cNvSpPr txBox="1"/>
          <p:nvPr/>
        </p:nvSpPr>
        <p:spPr>
          <a:xfrm>
            <a:off x="685800" y="468485"/>
            <a:ext cx="11216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Exploratory </a:t>
            </a: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Data</a:t>
            </a:r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 Analysis </a:t>
            </a: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(EDA)</a:t>
            </a:r>
            <a:endParaRPr lang="en-US" sz="7200" b="1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E11F2A-7830-CFD0-43E5-65A52A9ABC44}"/>
              </a:ext>
            </a:extLst>
          </p:cNvPr>
          <p:cNvSpPr txBox="1"/>
          <p:nvPr/>
        </p:nvSpPr>
        <p:spPr>
          <a:xfrm>
            <a:off x="381000" y="2137299"/>
            <a:ext cx="91516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rgbClr val="165EA0"/>
                </a:solidFill>
                <a:effectLst/>
                <a:latin typeface="Bebas Neue Cyrillic" panose="020B0604020202020204" charset="0"/>
              </a:rPr>
              <a:t> Understanding Cancellation Drivers</a:t>
            </a:r>
            <a:endParaRPr lang="en-US" sz="4400" b="1" dirty="0">
              <a:solidFill>
                <a:srgbClr val="165EA0"/>
              </a:solidFill>
              <a:latin typeface="Bebas Neue Cyrillic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FF061C-1EC0-C4C2-CE65-E3AF16A268FE}"/>
              </a:ext>
            </a:extLst>
          </p:cNvPr>
          <p:cNvSpPr txBox="1"/>
          <p:nvPr/>
        </p:nvSpPr>
        <p:spPr>
          <a:xfrm>
            <a:off x="381000" y="3162300"/>
            <a:ext cx="85285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104378"/>
                </a:solidFill>
                <a:effectLst/>
                <a:latin typeface="HK Grotesk" panose="020B0604020202020204" charset="0"/>
              </a:rPr>
              <a:t>Purpose: </a:t>
            </a:r>
            <a:r>
              <a:rPr lang="en-US" sz="2400" dirty="0">
                <a:solidFill>
                  <a:srgbClr val="45607B"/>
                </a:solidFill>
                <a:effectLst/>
                <a:latin typeface="HK Grotesk" panose="020B0604020202020204" charset="0"/>
              </a:rPr>
              <a:t>Analyzing relationships between booking features and the target variable (</a:t>
            </a:r>
            <a:r>
              <a:rPr lang="en-US" sz="2400" dirty="0" err="1">
                <a:solidFill>
                  <a:srgbClr val="45607B"/>
                </a:solidFill>
                <a:effectLst/>
                <a:latin typeface="HK Grotesk" panose="020B0604020202020204" charset="0"/>
              </a:rPr>
              <a:t>is_canceled</a:t>
            </a:r>
            <a:r>
              <a:rPr lang="en-US" sz="2400" dirty="0">
                <a:solidFill>
                  <a:srgbClr val="45607B"/>
                </a:solidFill>
                <a:effectLst/>
                <a:latin typeface="HK Grotesk" panose="020B0604020202020204" charset="0"/>
              </a:rPr>
              <a:t>) to identify patterns.</a:t>
            </a:r>
            <a:endParaRPr 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>
              <a:buNone/>
            </a:pPr>
            <a:b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</a:br>
            <a:endParaRPr 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>
              <a:buNone/>
            </a:pPr>
            <a:r>
              <a:rPr lang="en-US" sz="2800" b="1" dirty="0">
                <a:solidFill>
                  <a:srgbClr val="104378"/>
                </a:solidFill>
                <a:effectLst/>
                <a:latin typeface="HK Grotesk" panose="020B0604020202020204" charset="0"/>
              </a:rPr>
              <a:t>Lead Time Impact: </a:t>
            </a:r>
            <a:r>
              <a:rPr lang="en-US" sz="2400" dirty="0">
                <a:solidFill>
                  <a:srgbClr val="45607B"/>
                </a:solidFill>
                <a:effectLst/>
                <a:latin typeface="HK Grotesk" panose="020B0604020202020204" charset="0"/>
              </a:rPr>
              <a:t>We observed that bookings with longer lead times significantly increase the probability of cancellation.</a:t>
            </a:r>
            <a:endParaRPr 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>
              <a:buNone/>
            </a:pPr>
            <a:b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</a:br>
            <a:endParaRPr 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>
              <a:buNone/>
            </a:pPr>
            <a:r>
              <a:rPr lang="en-US" sz="2800" b="1" dirty="0">
                <a:solidFill>
                  <a:srgbClr val="104378"/>
                </a:solidFill>
                <a:effectLst/>
                <a:latin typeface="HK Grotesk" panose="020B0604020202020204" charset="0"/>
              </a:rPr>
              <a:t>Pricing Insights: </a:t>
            </a:r>
            <a:r>
              <a:rPr lang="en-US" sz="2400" dirty="0">
                <a:solidFill>
                  <a:srgbClr val="45607B"/>
                </a:solidFill>
                <a:effectLst/>
                <a:latin typeface="HK Grotesk" panose="020B0604020202020204" charset="0"/>
              </a:rPr>
              <a:t>Higher Average Daily Rate (ADR) values often show a positive correlation with cancellation rates.</a:t>
            </a:r>
            <a:endParaRPr lang="en-US" sz="2400" dirty="0">
              <a:solidFill>
                <a:srgbClr val="45607B"/>
              </a:solidFill>
              <a:latin typeface="HK Grotesk" panose="020B060402020202020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40A5D7-9CB1-676A-AB81-D834111A2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40395" r="37656"/>
          <a:stretch>
            <a:fillRect/>
          </a:stretch>
        </p:blipFill>
        <p:spPr>
          <a:xfrm>
            <a:off x="381000" y="7155478"/>
            <a:ext cx="8458200" cy="2980118"/>
          </a:xfrm>
          <a:prstGeom prst="rect">
            <a:avLst/>
          </a:prstGeom>
        </p:spPr>
      </p:pic>
      <p:sp>
        <p:nvSpPr>
          <p:cNvPr id="17" name="AutoShape 8">
            <a:extLst>
              <a:ext uri="{FF2B5EF4-FFF2-40B4-BE49-F238E27FC236}">
                <a16:creationId xmlns:a16="http://schemas.microsoft.com/office/drawing/2014/main" id="{A239BDB0-AE56-91DE-4602-0390027FC0C1}"/>
              </a:ext>
            </a:extLst>
          </p:cNvPr>
          <p:cNvSpPr/>
          <p:nvPr/>
        </p:nvSpPr>
        <p:spPr>
          <a:xfrm rot="16200000" flipH="1" flipV="1">
            <a:off x="6646340" y="4634958"/>
            <a:ext cx="4995320" cy="0"/>
          </a:xfrm>
          <a:prstGeom prst="line">
            <a:avLst/>
          </a:prstGeom>
          <a:ln w="76200" cap="flat">
            <a:solidFill>
              <a:schemeClr val="tx1">
                <a:lumMod val="75000"/>
                <a:lumOff val="25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B44C39-C495-0C85-F2C7-0392E8E0259E}"/>
              </a:ext>
            </a:extLst>
          </p:cNvPr>
          <p:cNvSpPr txBox="1"/>
          <p:nvPr/>
        </p:nvSpPr>
        <p:spPr>
          <a:xfrm>
            <a:off x="9378479" y="2137298"/>
            <a:ext cx="91516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rgbClr val="165EA0"/>
                </a:solidFill>
                <a:latin typeface="Bebas Neue Cyrillic" panose="020B0604020202020204" charset="0"/>
              </a:rPr>
              <a:t>Guest Behavior &amp; Commitment</a:t>
            </a:r>
            <a:endParaRPr lang="en-US" sz="4400" dirty="0">
              <a:solidFill>
                <a:srgbClr val="165EA0"/>
              </a:solidFill>
              <a:latin typeface="Bebas Neue Cyrillic" panose="020B060402020202020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D498A4-8AFD-7B33-EEE2-56EA25C10134}"/>
              </a:ext>
            </a:extLst>
          </p:cNvPr>
          <p:cNvSpPr txBox="1"/>
          <p:nvPr/>
        </p:nvSpPr>
        <p:spPr>
          <a:xfrm>
            <a:off x="9378479" y="3162300"/>
            <a:ext cx="852852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04378"/>
                </a:solidFill>
                <a:latin typeface="HK Grotesk" panose="020B0604020202020204" charset="0"/>
              </a:rPr>
              <a:t>Special Requests: 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Guests who make more special requests are statistically less likely to cancel their reservations, indicating higher commitment.</a:t>
            </a:r>
            <a:b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</a:br>
            <a:endParaRPr 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r>
              <a:rPr lang="en-US" sz="2800" b="1" dirty="0">
                <a:solidFill>
                  <a:srgbClr val="104378"/>
                </a:solidFill>
                <a:latin typeface="HK Grotesk" panose="020B0604020202020204" charset="0"/>
              </a:rPr>
              <a:t>Deposit Type: 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Analysis shows that "No Deposit" bookings have a much higher cancellation frequency compared to non-refundable options.</a:t>
            </a:r>
            <a:b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</a:br>
            <a:endParaRPr 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r>
              <a:rPr lang="en-US" sz="2800" b="1" dirty="0">
                <a:solidFill>
                  <a:srgbClr val="104378"/>
                </a:solidFill>
                <a:latin typeface="HK Grotesk" panose="020B0604020202020204" charset="0"/>
              </a:rPr>
              <a:t>Market Segments: 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Certain customer groups and market segments demonstrate distinct behavior patterns, which were used to refine model accuracy.</a:t>
            </a:r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9370EC46-1E4F-7374-BACF-CC3A91CE99F0}"/>
              </a:ext>
            </a:extLst>
          </p:cNvPr>
          <p:cNvSpPr/>
          <p:nvPr/>
        </p:nvSpPr>
        <p:spPr>
          <a:xfrm flipH="1" flipV="1">
            <a:off x="15392400" y="5194278"/>
            <a:ext cx="4546302" cy="5348590"/>
          </a:xfrm>
          <a:custGeom>
            <a:avLst/>
            <a:gdLst/>
            <a:ahLst/>
            <a:cxnLst/>
            <a:rect l="l" t="t" r="r" b="b"/>
            <a:pathLst>
              <a:path w="4546302" h="5348590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98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E3BD9-601A-A501-6EA2-FBE2CA9B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9CFC387-7638-544B-13AC-EC28994D02B2}"/>
              </a:ext>
            </a:extLst>
          </p:cNvPr>
          <p:cNvSpPr txBox="1"/>
          <p:nvPr/>
        </p:nvSpPr>
        <p:spPr>
          <a:xfrm>
            <a:off x="685800" y="468485"/>
            <a:ext cx="11216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Exploratory </a:t>
            </a: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Data</a:t>
            </a:r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 Analysis </a:t>
            </a: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(EDA)</a:t>
            </a:r>
            <a:endParaRPr lang="en-US" sz="7200" b="1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947BB0-1218-1C0C-F09A-9393AE41F2D8}"/>
              </a:ext>
            </a:extLst>
          </p:cNvPr>
          <p:cNvSpPr txBox="1"/>
          <p:nvPr/>
        </p:nvSpPr>
        <p:spPr>
          <a:xfrm>
            <a:off x="685800" y="3056391"/>
            <a:ext cx="4191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solidFill>
                  <a:srgbClr val="165EA0"/>
                </a:solidFill>
                <a:latin typeface="Bebas Neue Cyrillic" panose="020B0604020202020204" charset="0"/>
              </a:rPr>
              <a:t>Visual Distribution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7A7745-35AD-4AE8-5E28-C1023B4D0261}"/>
              </a:ext>
            </a:extLst>
          </p:cNvPr>
          <p:cNvSpPr txBox="1"/>
          <p:nvPr/>
        </p:nvSpPr>
        <p:spPr>
          <a:xfrm>
            <a:off x="685800" y="4081392"/>
            <a:ext cx="852852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04378"/>
                </a:solidFill>
                <a:latin typeface="HK Grotesk" panose="020B0604020202020204" charset="0"/>
              </a:rPr>
              <a:t>Target Balance: 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Using visualizations, we confirmed the distribution of canceled vs. non-canceled bookings.</a:t>
            </a:r>
            <a:br>
              <a:rPr lang="en-US" sz="2800" dirty="0">
                <a:solidFill>
                  <a:srgbClr val="45607B"/>
                </a:solidFill>
                <a:latin typeface="HK Grotesk" panose="020B0604020202020204" charset="0"/>
              </a:rPr>
            </a:br>
            <a:endParaRPr lang="en-US" sz="2800" dirty="0">
              <a:solidFill>
                <a:srgbClr val="45607B"/>
              </a:solidFill>
              <a:latin typeface="HK Grotesk" panose="020B0604020202020204" charset="0"/>
            </a:endParaRPr>
          </a:p>
          <a:p>
            <a:r>
              <a:rPr lang="en-US" sz="2800" b="1" dirty="0">
                <a:solidFill>
                  <a:srgbClr val="104378"/>
                </a:solidFill>
                <a:latin typeface="HK Grotesk" panose="020B0604020202020204" charset="0"/>
              </a:rPr>
              <a:t>Feature Importance: 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This analysis directly informed our feature selection, identifying the most influential variables for the Random Forest model.</a:t>
            </a:r>
            <a:endParaRPr lang="en-US" sz="2800" dirty="0">
              <a:solidFill>
                <a:srgbClr val="45607B"/>
              </a:solidFill>
              <a:latin typeface="HK Grotesk" panose="020B0604020202020204" charset="0"/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0FFDF7AB-2456-9BD8-137C-B91B048CFA49}"/>
              </a:ext>
            </a:extLst>
          </p:cNvPr>
          <p:cNvSpPr/>
          <p:nvPr/>
        </p:nvSpPr>
        <p:spPr>
          <a:xfrm flipH="1" flipV="1">
            <a:off x="10972800" y="0"/>
            <a:ext cx="7315200" cy="1426464"/>
          </a:xfrm>
          <a:custGeom>
            <a:avLst/>
            <a:gdLst/>
            <a:ahLst/>
            <a:cxnLst/>
            <a:rect l="l" t="t" r="r" b="b"/>
            <a:pathLst>
              <a:path w="7315200" h="1426464">
                <a:moveTo>
                  <a:pt x="7315200" y="1426464"/>
                </a:moveTo>
                <a:lnTo>
                  <a:pt x="0" y="142646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4264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9B8DEDEA-4660-6114-2698-686D3B3D2EB7}"/>
              </a:ext>
            </a:extLst>
          </p:cNvPr>
          <p:cNvSpPr/>
          <p:nvPr/>
        </p:nvSpPr>
        <p:spPr>
          <a:xfrm flipV="1">
            <a:off x="-1650481" y="6205608"/>
            <a:ext cx="5724244" cy="6734405"/>
          </a:xfrm>
          <a:custGeom>
            <a:avLst/>
            <a:gdLst/>
            <a:ahLst/>
            <a:cxnLst/>
            <a:rect l="l" t="t" r="r" b="b"/>
            <a:pathLst>
              <a:path w="5724244" h="6734405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0A5BE18-022B-B238-BEFA-97E8853418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7" t="1381"/>
          <a:stretch>
            <a:fillRect/>
          </a:stretch>
        </p:blipFill>
        <p:spPr>
          <a:xfrm>
            <a:off x="9753600" y="3056391"/>
            <a:ext cx="7735316" cy="584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00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FDECC-BC94-2BDE-5C76-086D9E6AA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7">
            <a:extLst>
              <a:ext uri="{FF2B5EF4-FFF2-40B4-BE49-F238E27FC236}">
                <a16:creationId xmlns:a16="http://schemas.microsoft.com/office/drawing/2014/main" id="{5CD4916B-5AC4-323C-CF0D-EB153B263B86}"/>
              </a:ext>
            </a:extLst>
          </p:cNvPr>
          <p:cNvSpPr/>
          <p:nvPr/>
        </p:nvSpPr>
        <p:spPr>
          <a:xfrm flipV="1">
            <a:off x="2209799" y="3467100"/>
            <a:ext cx="7010401" cy="0"/>
          </a:xfrm>
          <a:prstGeom prst="line">
            <a:avLst/>
          </a:prstGeom>
          <a:ln w="76200" cap="flat">
            <a:solidFill>
              <a:srgbClr val="4C74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8CC6043E-DA4C-5F3E-7FD3-5347B6E2779A}"/>
              </a:ext>
            </a:extLst>
          </p:cNvPr>
          <p:cNvSpPr txBox="1"/>
          <p:nvPr/>
        </p:nvSpPr>
        <p:spPr>
          <a:xfrm>
            <a:off x="9144000" y="2906713"/>
            <a:ext cx="1349968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9999"/>
              </a:lnSpc>
            </a:pPr>
            <a:r>
              <a:rPr lang="en-US" sz="9999" dirty="0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</a:t>
            </a:r>
            <a:r>
              <a:rPr lang="ar-EG" sz="9999" dirty="0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3</a:t>
            </a:r>
            <a:endParaRPr lang="en-US" sz="9999" dirty="0">
              <a:solidFill>
                <a:srgbClr val="4C749D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F6C2B32-C247-32A5-DBEA-595C9AB1CD23}"/>
              </a:ext>
            </a:extLst>
          </p:cNvPr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7F6363-6169-5609-3BF5-D10D721D9EAA}"/>
              </a:ext>
            </a:extLst>
          </p:cNvPr>
          <p:cNvSpPr txBox="1"/>
          <p:nvPr/>
        </p:nvSpPr>
        <p:spPr>
          <a:xfrm>
            <a:off x="1676400" y="3811012"/>
            <a:ext cx="89797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104378"/>
                </a:solidFill>
                <a:latin typeface="Bebas Neue Cyrillic" panose="020B0604020202020204" charset="0"/>
              </a:rPr>
              <a:t>Feature</a:t>
            </a:r>
            <a:r>
              <a:rPr lang="en-US" sz="9600" b="1" dirty="0">
                <a:solidFill>
                  <a:srgbClr val="165EA0"/>
                </a:solidFill>
                <a:latin typeface="Bebas Neue Cyrillic" panose="020B0604020202020204" charset="0"/>
              </a:rPr>
              <a:t> </a:t>
            </a:r>
            <a:r>
              <a:rPr 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Engineering</a:t>
            </a:r>
            <a:r>
              <a:rPr lang="en-US" sz="9600" b="1" dirty="0">
                <a:solidFill>
                  <a:srgbClr val="165EA0"/>
                </a:solidFill>
                <a:latin typeface="Bebas Neue Cyrillic" panose="020B0604020202020204" charset="0"/>
              </a:rPr>
              <a:t> </a:t>
            </a:r>
            <a:r>
              <a:rPr lang="en-US" sz="9600" b="1" dirty="0">
                <a:solidFill>
                  <a:srgbClr val="104378"/>
                </a:solidFill>
                <a:latin typeface="Bebas Neue Cyrillic" panose="020B0604020202020204" charset="0"/>
              </a:rPr>
              <a:t>&amp; Pre-</a:t>
            </a:r>
            <a:r>
              <a:rPr 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processing</a:t>
            </a:r>
            <a:endParaRPr lang="en-US" sz="9600" b="1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0B63432-B236-FEBE-B190-49F913437D1A}"/>
              </a:ext>
            </a:extLst>
          </p:cNvPr>
          <p:cNvGrpSpPr/>
          <p:nvPr/>
        </p:nvGrpSpPr>
        <p:grpSpPr>
          <a:xfrm rot="-788561">
            <a:off x="6835797" y="-1820950"/>
            <a:ext cx="12687883" cy="12687883"/>
            <a:chOff x="0" y="0"/>
            <a:chExt cx="6350000" cy="6350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F1C1342-AC20-6F9D-5CBB-F803023FF74B}"/>
                </a:ext>
              </a:extLst>
            </p:cNvPr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3"/>
              <a:stretch>
                <a:fillRect t="-3563" b="-465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4">
            <a:extLst>
              <a:ext uri="{FF2B5EF4-FFF2-40B4-BE49-F238E27FC236}">
                <a16:creationId xmlns:a16="http://schemas.microsoft.com/office/drawing/2014/main" id="{925996CB-0739-61CF-B06D-18AE788F813E}"/>
              </a:ext>
            </a:extLst>
          </p:cNvPr>
          <p:cNvSpPr/>
          <p:nvPr/>
        </p:nvSpPr>
        <p:spPr>
          <a:xfrm>
            <a:off x="12941332" y="1028700"/>
            <a:ext cx="5346668" cy="9258300"/>
          </a:xfrm>
          <a:custGeom>
            <a:avLst/>
            <a:gdLst/>
            <a:ahLst/>
            <a:cxnLst/>
            <a:rect l="l" t="t" r="r" b="b"/>
            <a:pathLst>
              <a:path w="5346668" h="9258300">
                <a:moveTo>
                  <a:pt x="0" y="0"/>
                </a:moveTo>
                <a:lnTo>
                  <a:pt x="5346668" y="0"/>
                </a:lnTo>
                <a:lnTo>
                  <a:pt x="53466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45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9ED06FF6-03FB-F2EF-94BD-700F8E14B142}"/>
              </a:ext>
            </a:extLst>
          </p:cNvPr>
          <p:cNvSpPr txBox="1"/>
          <p:nvPr/>
        </p:nvSpPr>
        <p:spPr>
          <a:xfrm>
            <a:off x="2667000" y="342900"/>
            <a:ext cx="12405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Feature</a:t>
            </a:r>
            <a:r>
              <a:rPr lang="en-US" sz="7200" b="1" dirty="0">
                <a:solidFill>
                  <a:srgbClr val="165EA0"/>
                </a:solidFill>
                <a:latin typeface="Bebas Neue Cyrillic" panose="020B0604020202020204" charset="0"/>
              </a:rPr>
              <a:t> </a:t>
            </a: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Engineering</a:t>
            </a:r>
            <a:r>
              <a:rPr lang="en-US" sz="7200" b="1" dirty="0">
                <a:solidFill>
                  <a:srgbClr val="165EA0"/>
                </a:solidFill>
                <a:latin typeface="Bebas Neue Cyrillic" panose="020B0604020202020204" charset="0"/>
              </a:rPr>
              <a:t> </a:t>
            </a:r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&amp; Pre-</a:t>
            </a: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processing</a:t>
            </a:r>
            <a:endParaRPr lang="en-US" sz="7200" b="1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25" name="Freeform 8">
            <a:extLst>
              <a:ext uri="{FF2B5EF4-FFF2-40B4-BE49-F238E27FC236}">
                <a16:creationId xmlns:a16="http://schemas.microsoft.com/office/drawing/2014/main" id="{FBF5CBA6-C725-507F-E852-05CB3CF78BAA}"/>
              </a:ext>
            </a:extLst>
          </p:cNvPr>
          <p:cNvSpPr/>
          <p:nvPr/>
        </p:nvSpPr>
        <p:spPr>
          <a:xfrm>
            <a:off x="0" y="-266700"/>
            <a:ext cx="3214829" cy="3782152"/>
          </a:xfrm>
          <a:custGeom>
            <a:avLst/>
            <a:gdLst/>
            <a:ahLst/>
            <a:cxnLst/>
            <a:rect l="l" t="t" r="r" b="b"/>
            <a:pathLst>
              <a:path w="3214829" h="3782152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9">
            <a:extLst>
              <a:ext uri="{FF2B5EF4-FFF2-40B4-BE49-F238E27FC236}">
                <a16:creationId xmlns:a16="http://schemas.microsoft.com/office/drawing/2014/main" id="{973859D7-B218-C3F7-E39E-CDAAFE1E526F}"/>
              </a:ext>
            </a:extLst>
          </p:cNvPr>
          <p:cNvSpPr/>
          <p:nvPr/>
        </p:nvSpPr>
        <p:spPr>
          <a:xfrm flipH="1" flipV="1">
            <a:off x="15897316" y="5194278"/>
            <a:ext cx="4546302" cy="5348590"/>
          </a:xfrm>
          <a:custGeom>
            <a:avLst/>
            <a:gdLst/>
            <a:ahLst/>
            <a:cxnLst/>
            <a:rect l="l" t="t" r="r" b="b"/>
            <a:pathLst>
              <a:path w="4546302" h="5348590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B859F2-8211-EB2F-1767-19EFE864CD9E}"/>
              </a:ext>
            </a:extLst>
          </p:cNvPr>
          <p:cNvSpPr txBox="1"/>
          <p:nvPr/>
        </p:nvSpPr>
        <p:spPr>
          <a:xfrm>
            <a:off x="2057400" y="1630859"/>
            <a:ext cx="14020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104378"/>
                </a:solidFill>
                <a:latin typeface="Bebas Neue Cyrillic" panose="020B0604020202020204" charset="0"/>
              </a:rPr>
              <a:t>Behavioral Feature Synthesis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E90BDA0-5A5F-F587-BFFF-EC30E2C8DCE9}"/>
              </a:ext>
            </a:extLst>
          </p:cNvPr>
          <p:cNvGrpSpPr/>
          <p:nvPr/>
        </p:nvGrpSpPr>
        <p:grpSpPr>
          <a:xfrm>
            <a:off x="2057400" y="2555582"/>
            <a:ext cx="14020800" cy="1364979"/>
            <a:chOff x="2057400" y="2623912"/>
            <a:chExt cx="14020800" cy="1364979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5A18FA9-2999-43C2-03F5-3771D7587E08}"/>
                </a:ext>
              </a:extLst>
            </p:cNvPr>
            <p:cNvSpPr/>
            <p:nvPr/>
          </p:nvSpPr>
          <p:spPr>
            <a:xfrm>
              <a:off x="2057400" y="2623912"/>
              <a:ext cx="14020800" cy="1364979"/>
            </a:xfrm>
            <a:prstGeom prst="rect">
              <a:avLst/>
            </a:prstGeom>
            <a:solidFill>
              <a:srgbClr val="1043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AF137E4-3395-E4DC-2552-0B775D7DFA49}"/>
                </a:ext>
              </a:extLst>
            </p:cNvPr>
            <p:cNvSpPr txBox="1"/>
            <p:nvPr/>
          </p:nvSpPr>
          <p:spPr>
            <a:xfrm>
              <a:off x="2431186" y="2859447"/>
              <a:ext cx="13091160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effectLst/>
                  <a:latin typeface="HK Grotesk" panose="020B0604020202020204" charset="0"/>
                </a:rPr>
                <a:t>Creation of Aggregate Metrics: </a:t>
              </a:r>
              <a:r>
                <a:rPr lang="en-US" sz="2400" dirty="0">
                  <a:solidFill>
                    <a:srgbClr val="E8E8E8"/>
                  </a:solidFill>
                  <a:effectLst/>
                  <a:latin typeface="HK Grotesk" panose="020B0604020202020204" charset="0"/>
                </a:rPr>
                <a:t>We developed new features like </a:t>
              </a:r>
              <a:r>
                <a:rPr lang="en-US" sz="2400" dirty="0" err="1">
                  <a:solidFill>
                    <a:srgbClr val="E8E8E8"/>
                  </a:solidFill>
                  <a:effectLst/>
                  <a:latin typeface="HK Grotesk" panose="020B0604020202020204" charset="0"/>
                </a:rPr>
                <a:t>total_people</a:t>
              </a:r>
              <a:r>
                <a:rPr lang="en-US" sz="2400" dirty="0">
                  <a:solidFill>
                    <a:srgbClr val="E8E8E8"/>
                  </a:solidFill>
                  <a:effectLst/>
                  <a:latin typeface="HK Grotesk" panose="020B0604020202020204" charset="0"/>
                </a:rPr>
                <a:t> (sum of adults, children, and babies) and </a:t>
              </a:r>
              <a:r>
                <a:rPr lang="en-US" sz="2400" dirty="0" err="1">
                  <a:solidFill>
                    <a:srgbClr val="E8E8E8"/>
                  </a:solidFill>
                  <a:effectLst/>
                  <a:latin typeface="HK Grotesk" panose="020B0604020202020204" charset="0"/>
                </a:rPr>
                <a:t>total_stay</a:t>
              </a:r>
              <a:r>
                <a:rPr lang="en-US" sz="2400" dirty="0">
                  <a:solidFill>
                    <a:srgbClr val="E8E8E8"/>
                  </a:solidFill>
                  <a:effectLst/>
                  <a:latin typeface="HK Grotesk" panose="020B0604020202020204" charset="0"/>
                </a:rPr>
                <a:t> to provide a holistic view of booking requirements.</a:t>
              </a:r>
              <a:endParaRPr lang="en-US" sz="2400" dirty="0">
                <a:solidFill>
                  <a:srgbClr val="E8E8E8"/>
                </a:solidFill>
                <a:latin typeface="HK Grotesk" panose="020B0604020202020204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3B30C8E-2887-51CF-1DAC-DD7EBF1B42D7}"/>
              </a:ext>
            </a:extLst>
          </p:cNvPr>
          <p:cNvGrpSpPr/>
          <p:nvPr/>
        </p:nvGrpSpPr>
        <p:grpSpPr>
          <a:xfrm>
            <a:off x="2057400" y="4071321"/>
            <a:ext cx="14020800" cy="1364979"/>
            <a:chOff x="2057400" y="4220802"/>
            <a:chExt cx="14020800" cy="136497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B0DF18F-EF8B-13DC-1B55-3F3030A512AE}"/>
                </a:ext>
              </a:extLst>
            </p:cNvPr>
            <p:cNvSpPr/>
            <p:nvPr/>
          </p:nvSpPr>
          <p:spPr>
            <a:xfrm>
              <a:off x="2057400" y="4220802"/>
              <a:ext cx="14020800" cy="1364979"/>
            </a:xfrm>
            <a:prstGeom prst="rect">
              <a:avLst/>
            </a:prstGeom>
            <a:solidFill>
              <a:srgbClr val="165E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D9B67FB-BA89-7DE1-BBB2-A0BE047D0293}"/>
                </a:ext>
              </a:extLst>
            </p:cNvPr>
            <p:cNvSpPr txBox="1"/>
            <p:nvPr/>
          </p:nvSpPr>
          <p:spPr>
            <a:xfrm>
              <a:off x="2431186" y="4458769"/>
              <a:ext cx="13091160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HK Grotesk" panose="020B0604020202020204" charset="0"/>
                </a:rPr>
                <a:t>Logic: </a:t>
              </a:r>
              <a:r>
                <a:rPr lang="en-US" sz="2400" dirty="0">
                  <a:solidFill>
                    <a:srgbClr val="E8E8E8"/>
                  </a:solidFill>
                  <a:latin typeface="HK Grotesk" panose="020B0604020202020204" charset="0"/>
                </a:rPr>
                <a:t>Combining raw columns into synthesized metrics helps the model capture behavioral trends rather than fragmented data points.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55D815C-E71A-6EAA-5550-8D354EDB7A31}"/>
              </a:ext>
            </a:extLst>
          </p:cNvPr>
          <p:cNvGrpSpPr/>
          <p:nvPr/>
        </p:nvGrpSpPr>
        <p:grpSpPr>
          <a:xfrm>
            <a:off x="2057400" y="5584071"/>
            <a:ext cx="14020800" cy="1364979"/>
            <a:chOff x="2057400" y="5810072"/>
            <a:chExt cx="14020800" cy="1364979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44DB85B-07D1-B9F4-358B-A69CD157AAF7}"/>
                </a:ext>
              </a:extLst>
            </p:cNvPr>
            <p:cNvSpPr/>
            <p:nvPr/>
          </p:nvSpPr>
          <p:spPr>
            <a:xfrm>
              <a:off x="2057400" y="5810072"/>
              <a:ext cx="14020800" cy="1364979"/>
            </a:xfrm>
            <a:prstGeom prst="rect">
              <a:avLst/>
            </a:prstGeom>
            <a:solidFill>
              <a:srgbClr val="1043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A8ACB03-A139-B772-2BA9-7689AC13839A}"/>
                </a:ext>
              </a:extLst>
            </p:cNvPr>
            <p:cNvSpPr txBox="1"/>
            <p:nvPr/>
          </p:nvSpPr>
          <p:spPr>
            <a:xfrm>
              <a:off x="2431186" y="6048039"/>
              <a:ext cx="13091160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E8E8E8"/>
                  </a:solidFill>
                  <a:latin typeface="HK Grotesk" panose="020B0604020202020204" charset="0"/>
                </a:rPr>
                <a:t>Categorical Encoding: </a:t>
              </a:r>
              <a:r>
                <a:rPr lang="en-US" sz="2800" dirty="0">
                  <a:solidFill>
                    <a:srgbClr val="E8E8E8"/>
                  </a:solidFill>
                  <a:latin typeface="HK Grotesk" panose="020B0604020202020204" charset="0"/>
                </a:rPr>
                <a:t>Used </a:t>
              </a:r>
              <a:r>
                <a:rPr lang="en-US" sz="2800" dirty="0" err="1">
                  <a:solidFill>
                    <a:srgbClr val="E8E8E8"/>
                  </a:solidFill>
                  <a:latin typeface="HK Grotesk" panose="020B0604020202020204" charset="0"/>
                </a:rPr>
                <a:t>LabelEncoder</a:t>
              </a:r>
              <a:r>
                <a:rPr lang="en-US" sz="2800" dirty="0">
                  <a:solidFill>
                    <a:srgbClr val="E8E8E8"/>
                  </a:solidFill>
                  <a:latin typeface="HK Grotesk" panose="020B0604020202020204" charset="0"/>
                </a:rPr>
                <a:t> to convert 12 qualitative variables (such as hotel, </a:t>
              </a:r>
              <a:r>
                <a:rPr lang="en-US" sz="2800" dirty="0" err="1">
                  <a:solidFill>
                    <a:srgbClr val="E8E8E8"/>
                  </a:solidFill>
                  <a:latin typeface="HK Grotesk" panose="020B0604020202020204" charset="0"/>
                </a:rPr>
                <a:t>market_segment</a:t>
              </a:r>
              <a:r>
                <a:rPr lang="en-US" sz="2800" dirty="0">
                  <a:solidFill>
                    <a:srgbClr val="E8E8E8"/>
                  </a:solidFill>
                  <a:latin typeface="HK Grotesk" panose="020B0604020202020204" charset="0"/>
                </a:rPr>
                <a:t>, and meal) into machine-readable numeric formats.</a:t>
              </a:r>
              <a:endParaRPr lang="en-US" sz="2400" dirty="0">
                <a:solidFill>
                  <a:srgbClr val="E8E8E8"/>
                </a:solidFill>
                <a:latin typeface="HK Grotesk" panose="020B060402020202020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EB5F2EA-ED88-7E28-07C3-3A1A01A572B8}"/>
              </a:ext>
            </a:extLst>
          </p:cNvPr>
          <p:cNvGrpSpPr/>
          <p:nvPr/>
        </p:nvGrpSpPr>
        <p:grpSpPr>
          <a:xfrm>
            <a:off x="2057400" y="7096821"/>
            <a:ext cx="14020800" cy="1364979"/>
            <a:chOff x="2057400" y="7406282"/>
            <a:chExt cx="14020800" cy="136497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07D3AF8-C666-1EFA-13FE-D33D4EC4FA9C}"/>
                </a:ext>
              </a:extLst>
            </p:cNvPr>
            <p:cNvSpPr/>
            <p:nvPr/>
          </p:nvSpPr>
          <p:spPr>
            <a:xfrm>
              <a:off x="2057400" y="7406282"/>
              <a:ext cx="14020800" cy="1364979"/>
            </a:xfrm>
            <a:prstGeom prst="rect">
              <a:avLst/>
            </a:prstGeom>
            <a:solidFill>
              <a:srgbClr val="165E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5E8152B-2D49-CF6F-AEA0-AAB1D59E0D65}"/>
                </a:ext>
              </a:extLst>
            </p:cNvPr>
            <p:cNvSpPr txBox="1"/>
            <p:nvPr/>
          </p:nvSpPr>
          <p:spPr>
            <a:xfrm>
              <a:off x="2431186" y="7644249"/>
              <a:ext cx="13091160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HK Grotesk" panose="020B0604020202020204" charset="0"/>
                </a:rPr>
                <a:t>Logic: </a:t>
              </a:r>
              <a:r>
                <a:rPr lang="en-US" sz="2400" dirty="0">
                  <a:solidFill>
                    <a:srgbClr val="E8E8E8"/>
                  </a:solidFill>
                  <a:latin typeface="HK Grotesk" panose="020B0604020202020204" charset="0"/>
                </a:rPr>
                <a:t>Combining raw columns into synthesized metrics helps the model capture behavioral trends rather than fragmented data points.</a:t>
              </a:r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20FF4041-9D19-4A38-14C9-D0DDE475F169}"/>
              </a:ext>
            </a:extLst>
          </p:cNvPr>
          <p:cNvSpPr/>
          <p:nvPr/>
        </p:nvSpPr>
        <p:spPr>
          <a:xfrm>
            <a:off x="2057400" y="8609571"/>
            <a:ext cx="14020800" cy="1364979"/>
          </a:xfrm>
          <a:prstGeom prst="rect">
            <a:avLst/>
          </a:prstGeom>
          <a:solidFill>
            <a:srgbClr val="10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85E748-A8FE-6AF7-DCF5-E9E9D0B5583D}"/>
              </a:ext>
            </a:extLst>
          </p:cNvPr>
          <p:cNvSpPr txBox="1"/>
          <p:nvPr/>
        </p:nvSpPr>
        <p:spPr>
          <a:xfrm>
            <a:off x="2324100" y="8850409"/>
            <a:ext cx="13091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E8E8E8"/>
                </a:solidFill>
                <a:latin typeface="HK Grotesk" panose="020B0604020202020204" charset="0"/>
              </a:rPr>
              <a:t>Numeric Refinement</a:t>
            </a:r>
            <a:r>
              <a:rPr lang="en-US" sz="2400" b="1" dirty="0">
                <a:solidFill>
                  <a:srgbClr val="E8E8E8"/>
                </a:solidFill>
                <a:latin typeface="HK Grotesk" panose="020B0604020202020204" charset="0"/>
              </a:rPr>
              <a:t>: </a:t>
            </a:r>
            <a:r>
              <a:rPr lang="en-US" sz="2400" dirty="0">
                <a:solidFill>
                  <a:srgbClr val="E8E8E8"/>
                </a:solidFill>
                <a:latin typeface="HK Grotesk" panose="020B0604020202020204" charset="0"/>
              </a:rPr>
              <a:t>Removed logical anomalies, such as negative values in the ADR column, to ensure data integrity</a:t>
            </a:r>
            <a:r>
              <a:rPr lang="en-US" sz="2800" dirty="0">
                <a:solidFill>
                  <a:srgbClr val="E8E8E8"/>
                </a:solidFill>
                <a:latin typeface="HK Grotesk" panose="020B0604020202020204" charset="0"/>
              </a:rPr>
              <a:t>.</a:t>
            </a:r>
            <a:endParaRPr lang="en-US" sz="2400" dirty="0">
              <a:solidFill>
                <a:srgbClr val="E8E8E8"/>
              </a:solidFill>
              <a:latin typeface="HK Grotesk" panose="020B060402020202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458F8-D7D6-BA63-7626-F0AE9D61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269C6ED2-F3BA-9C74-CB32-D61AB1A0D510}"/>
              </a:ext>
            </a:extLst>
          </p:cNvPr>
          <p:cNvSpPr/>
          <p:nvPr/>
        </p:nvSpPr>
        <p:spPr>
          <a:xfrm flipH="1">
            <a:off x="11785081" y="7620"/>
            <a:ext cx="6540207" cy="7694361"/>
          </a:xfrm>
          <a:custGeom>
            <a:avLst/>
            <a:gdLst/>
            <a:ahLst/>
            <a:cxnLst/>
            <a:rect l="l" t="t" r="r" b="b"/>
            <a:pathLst>
              <a:path w="6540207" h="7694361">
                <a:moveTo>
                  <a:pt x="0" y="0"/>
                </a:moveTo>
                <a:lnTo>
                  <a:pt x="6540207" y="0"/>
                </a:lnTo>
                <a:lnTo>
                  <a:pt x="6540207" y="7694361"/>
                </a:lnTo>
                <a:lnTo>
                  <a:pt x="0" y="7694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634AAF1A-C630-E1F2-3735-AFF61A06432A}"/>
              </a:ext>
            </a:extLst>
          </p:cNvPr>
          <p:cNvSpPr/>
          <p:nvPr/>
        </p:nvSpPr>
        <p:spPr>
          <a:xfrm flipH="1" flipV="1">
            <a:off x="12335156" y="4352695"/>
            <a:ext cx="5724244" cy="6734405"/>
          </a:xfrm>
          <a:custGeom>
            <a:avLst/>
            <a:gdLst/>
            <a:ahLst/>
            <a:cxnLst/>
            <a:rect l="l" t="t" r="r" b="b"/>
            <a:pathLst>
              <a:path w="5724244" h="6734405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18F44-D820-CB84-D64B-6DC0EC1F45F4}"/>
              </a:ext>
            </a:extLst>
          </p:cNvPr>
          <p:cNvSpPr txBox="1"/>
          <p:nvPr/>
        </p:nvSpPr>
        <p:spPr>
          <a:xfrm>
            <a:off x="0" y="342900"/>
            <a:ext cx="12405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Feature</a:t>
            </a:r>
            <a:r>
              <a:rPr lang="en-US" sz="7200" b="1" dirty="0">
                <a:solidFill>
                  <a:srgbClr val="165EA0"/>
                </a:solidFill>
                <a:latin typeface="Bebas Neue Cyrillic" panose="020B0604020202020204" charset="0"/>
              </a:rPr>
              <a:t> </a:t>
            </a: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Engineering</a:t>
            </a:r>
            <a:r>
              <a:rPr lang="en-US" sz="7200" b="1" dirty="0">
                <a:solidFill>
                  <a:srgbClr val="165EA0"/>
                </a:solidFill>
                <a:latin typeface="Bebas Neue Cyrillic" panose="020B0604020202020204" charset="0"/>
              </a:rPr>
              <a:t> </a:t>
            </a:r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&amp; Pre-</a:t>
            </a: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processing</a:t>
            </a:r>
            <a:endParaRPr lang="en-US" sz="7200" b="1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94A0B8-069F-1428-97EF-C3C7C068761A}"/>
              </a:ext>
            </a:extLst>
          </p:cNvPr>
          <p:cNvSpPr txBox="1"/>
          <p:nvPr/>
        </p:nvSpPr>
        <p:spPr>
          <a:xfrm>
            <a:off x="640080" y="2588430"/>
            <a:ext cx="5791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165EA0"/>
                </a:solidFill>
                <a:latin typeface="Bebas Neue Cyrillic" panose="020B0604020202020204" charset="0"/>
              </a:rPr>
              <a:t>Categorical Transformation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EEED1-12EC-7712-0E00-7B8D1FCB4E0C}"/>
              </a:ext>
            </a:extLst>
          </p:cNvPr>
          <p:cNvSpPr txBox="1"/>
          <p:nvPr/>
        </p:nvSpPr>
        <p:spPr>
          <a:xfrm>
            <a:off x="640080" y="3564591"/>
            <a:ext cx="1194816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 err="1">
                <a:solidFill>
                  <a:srgbClr val="104378"/>
                </a:solidFill>
                <a:latin typeface="HK Grotesk" panose="020B0604020202020204" charset="0"/>
              </a:rPr>
              <a:t>lb</a:t>
            </a:r>
            <a:r>
              <a:rPr lang="en-US" sz="2800" b="1" dirty="0">
                <a:solidFill>
                  <a:srgbClr val="104378"/>
                </a:solidFill>
                <a:latin typeface="HK Grotesk" panose="020B0604020202020204" charset="0"/>
              </a:rPr>
              <a:t> = </a:t>
            </a:r>
            <a:r>
              <a:rPr lang="en-US" sz="2800" b="1" dirty="0" err="1">
                <a:solidFill>
                  <a:srgbClr val="104378"/>
                </a:solidFill>
                <a:latin typeface="HK Grotesk" panose="020B0604020202020204" charset="0"/>
              </a:rPr>
              <a:t>LabelEncoder</a:t>
            </a:r>
            <a:r>
              <a:rPr lang="en-US" sz="2800" b="1" dirty="0">
                <a:solidFill>
                  <a:srgbClr val="104378"/>
                </a:solidFill>
                <a:latin typeface="HK Grotesk" panose="020B0604020202020204" charset="0"/>
              </a:rPr>
              <a:t>(): 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This command initializes a </a:t>
            </a:r>
            <a:r>
              <a:rPr lang="en-US" sz="2400" dirty="0" err="1">
                <a:solidFill>
                  <a:srgbClr val="45607B"/>
                </a:solidFill>
                <a:latin typeface="HK Grotesk" panose="020B0604020202020204" charset="0"/>
              </a:rPr>
              <a:t>LabelEncoder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 to convert textual categories into unique numeric identifiers.</a:t>
            </a:r>
            <a:endParaRPr lang="ar-EG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endParaRPr lang="ar-EG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b="1" dirty="0" err="1">
                <a:solidFill>
                  <a:srgbClr val="104378"/>
                </a:solidFill>
                <a:latin typeface="HK Grotesk" panose="020B0604020202020204" charset="0"/>
              </a:rPr>
              <a:t>categorical_cols_to_encode</a:t>
            </a:r>
            <a:r>
              <a:rPr lang="en-US" sz="2800" b="1" dirty="0">
                <a:solidFill>
                  <a:srgbClr val="104378"/>
                </a:solidFill>
                <a:latin typeface="HK Grotesk" panose="020B0604020202020204" charset="0"/>
              </a:rPr>
              <a:t>: </a:t>
            </a:r>
            <a:r>
              <a:rPr lang="en-US" sz="2800" dirty="0">
                <a:solidFill>
                  <a:srgbClr val="104378"/>
                </a:solidFill>
                <a:latin typeface="HK Grotesk" panose="020B0604020202020204" charset="0"/>
              </a:rPr>
              <a:t>A 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predefined list of columns, such as hotel, </a:t>
            </a:r>
            <a:r>
              <a:rPr lang="en-US" sz="2400" dirty="0" err="1">
                <a:solidFill>
                  <a:srgbClr val="45607B"/>
                </a:solidFill>
                <a:latin typeface="HK Grotesk" panose="020B0604020202020204" charset="0"/>
              </a:rPr>
              <a:t>customer_type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, </a:t>
            </a:r>
            <a:r>
              <a:rPr lang="en-US" sz="2400" dirty="0" err="1">
                <a:solidFill>
                  <a:srgbClr val="45607B"/>
                </a:solidFill>
                <a:latin typeface="HK Grotesk" panose="020B0604020202020204" charset="0"/>
              </a:rPr>
              <a:t>market_segment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, and </a:t>
            </a:r>
            <a:r>
              <a:rPr lang="en-US" sz="2400" dirty="0" err="1">
                <a:solidFill>
                  <a:srgbClr val="45607B"/>
                </a:solidFill>
                <a:latin typeface="HK Grotesk" panose="020B0604020202020204" charset="0"/>
              </a:rPr>
              <a:t>distribution_channel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, are identified for encoding.</a:t>
            </a:r>
            <a:endParaRPr lang="ar-EG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indent="-514350">
              <a:buFont typeface="+mj-lt"/>
              <a:buAutoNum type="arabicPeriod"/>
            </a:pPr>
            <a:endParaRPr lang="ar-EG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104378"/>
                </a:solidFill>
                <a:latin typeface="HK Grotesk" panose="020B0604020202020204" charset="0"/>
              </a:rPr>
              <a:t>Encoding Loop: </a:t>
            </a:r>
            <a:r>
              <a:rPr lang="en-US" sz="2400" dirty="0">
                <a:solidFill>
                  <a:srgbClr val="45607B"/>
                </a:solidFill>
                <a:latin typeface="HK Grotesk" panose="020B0604020202020204" charset="0"/>
              </a:rPr>
              <a:t>A for-loop iterates through these columns, automatically transforming descriptive strings into integer labels to make the dataset compatible with mathematical modeling.</a:t>
            </a:r>
          </a:p>
        </p:txBody>
      </p:sp>
    </p:spTree>
    <p:extLst>
      <p:ext uri="{BB962C8B-B14F-4D97-AF65-F5344CB8AC3E}">
        <p14:creationId xmlns:p14="http://schemas.microsoft.com/office/powerpoint/2010/main" val="3984891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"/>
          <p:cNvGrpSpPr/>
          <p:nvPr/>
        </p:nvGrpSpPr>
        <p:grpSpPr>
          <a:xfrm rot="-788561">
            <a:off x="6835797" y="-1820950"/>
            <a:ext cx="12687883" cy="12687883"/>
            <a:chOff x="0" y="0"/>
            <a:chExt cx="6350000" cy="6350000"/>
          </a:xfrm>
        </p:grpSpPr>
        <p:sp>
          <p:nvSpPr>
            <p:cNvPr id="12" name="Freeform 3"/>
            <p:cNvSpPr/>
            <p:nvPr/>
          </p:nvSpPr>
          <p:spPr>
            <a:xfrm>
              <a:off x="-95377" y="-95377"/>
              <a:ext cx="6540754" cy="6540754"/>
            </a:xfrm>
            <a:custGeom>
              <a:avLst/>
              <a:gdLst/>
              <a:ahLst/>
              <a:cxnLst/>
              <a:rect l="l" t="t" r="r" b="b"/>
              <a:pathLst>
                <a:path w="6540754" h="6540754">
                  <a:moveTo>
                    <a:pt x="6540754" y="0"/>
                  </a:moveTo>
                  <a:lnTo>
                    <a:pt x="0" y="6540754"/>
                  </a:lnTo>
                  <a:lnTo>
                    <a:pt x="6540754" y="6540754"/>
                  </a:lnTo>
                  <a:close/>
                </a:path>
              </a:pathLst>
            </a:custGeom>
            <a:blipFill>
              <a:blip r:embed="rId2"/>
              <a:stretch>
                <a:fillRect t="-25046" b="-2504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4"/>
          <p:cNvSpPr/>
          <p:nvPr/>
        </p:nvSpPr>
        <p:spPr>
          <a:xfrm>
            <a:off x="12941332" y="1028700"/>
            <a:ext cx="5346668" cy="9258300"/>
          </a:xfrm>
          <a:custGeom>
            <a:avLst/>
            <a:gdLst/>
            <a:ahLst/>
            <a:cxnLst/>
            <a:rect l="l" t="t" r="r" b="b"/>
            <a:pathLst>
              <a:path w="5346668" h="9258300">
                <a:moveTo>
                  <a:pt x="0" y="0"/>
                </a:moveTo>
                <a:lnTo>
                  <a:pt x="5346668" y="0"/>
                </a:lnTo>
                <a:lnTo>
                  <a:pt x="534666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8"/>
          <p:cNvSpPr/>
          <p:nvPr/>
        </p:nvSpPr>
        <p:spPr>
          <a:xfrm flipH="1" flipV="1">
            <a:off x="-3635828" y="-156278"/>
            <a:ext cx="6328303" cy="5814128"/>
          </a:xfrm>
          <a:custGeom>
            <a:avLst/>
            <a:gdLst/>
            <a:ahLst/>
            <a:cxnLst/>
            <a:rect l="l" t="t" r="r" b="b"/>
            <a:pathLst>
              <a:path w="6328303" h="5814128">
                <a:moveTo>
                  <a:pt x="6328303" y="5814128"/>
                </a:moveTo>
                <a:lnTo>
                  <a:pt x="0" y="5814128"/>
                </a:lnTo>
                <a:lnTo>
                  <a:pt x="0" y="0"/>
                </a:lnTo>
                <a:lnTo>
                  <a:pt x="6328303" y="0"/>
                </a:lnTo>
                <a:lnTo>
                  <a:pt x="6328303" y="581412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A5AA0F92-16F6-E182-8086-D91C0DC83E85}"/>
              </a:ext>
            </a:extLst>
          </p:cNvPr>
          <p:cNvSpPr/>
          <p:nvPr/>
        </p:nvSpPr>
        <p:spPr>
          <a:xfrm flipV="1">
            <a:off x="2209799" y="3467100"/>
            <a:ext cx="7010401" cy="0"/>
          </a:xfrm>
          <a:prstGeom prst="line">
            <a:avLst/>
          </a:prstGeom>
          <a:ln w="76200" cap="flat">
            <a:solidFill>
              <a:srgbClr val="4C74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1B0700EB-1E5E-81A8-94D8-4D9982BBC7E0}"/>
              </a:ext>
            </a:extLst>
          </p:cNvPr>
          <p:cNvSpPr txBox="1"/>
          <p:nvPr/>
        </p:nvSpPr>
        <p:spPr>
          <a:xfrm>
            <a:off x="9144000" y="2906713"/>
            <a:ext cx="1349968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9999"/>
              </a:lnSpc>
            </a:pPr>
            <a:r>
              <a:rPr lang="en-US" sz="9999" dirty="0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</a:t>
            </a:r>
            <a:r>
              <a:rPr lang="ar-EG" sz="9999" dirty="0">
                <a:solidFill>
                  <a:srgbClr val="4C749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4</a:t>
            </a:r>
            <a:endParaRPr lang="en-US" sz="9999" dirty="0">
              <a:solidFill>
                <a:srgbClr val="4C749D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26077B-22F4-7DB7-0D3A-4FF6AAFFB9BD}"/>
              </a:ext>
            </a:extLst>
          </p:cNvPr>
          <p:cNvSpPr txBox="1"/>
          <p:nvPr/>
        </p:nvSpPr>
        <p:spPr>
          <a:xfrm>
            <a:off x="1676400" y="3811012"/>
            <a:ext cx="89797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104378"/>
                </a:solidFill>
                <a:latin typeface="Bebas Neue Cyrillic" panose="020B0604020202020204" charset="0"/>
              </a:rPr>
              <a:t>Model</a:t>
            </a:r>
            <a:r>
              <a:rPr lang="ar-EG" sz="9600" b="1" dirty="0">
                <a:solidFill>
                  <a:srgbClr val="104378"/>
                </a:solidFill>
                <a:latin typeface="Bebas Neue Cyrillic" panose="020B0604020202020204" charset="0"/>
              </a:rPr>
              <a:t> </a:t>
            </a:r>
            <a:r>
              <a:rPr lang="en-US" sz="9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Training &amp;</a:t>
            </a:r>
            <a:r>
              <a:rPr lang="en-US" sz="9600" b="1" dirty="0">
                <a:solidFill>
                  <a:srgbClr val="104378"/>
                </a:solidFill>
                <a:latin typeface="Bebas Neue Cyrillic" panose="020B0604020202020204" charset="0"/>
              </a:rPr>
              <a:t> Evaluation</a:t>
            </a:r>
            <a:endParaRPr lang="en-US" sz="9600" b="1" dirty="0">
              <a:solidFill>
                <a:srgbClr val="104378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38200" y="3789772"/>
            <a:ext cx="8867002" cy="3508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Model Selection: </a:t>
            </a:r>
            <a:r>
              <a:rPr lang="en-US" sz="2400" dirty="0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We implemented a Random Forest Classifier, an ensemble learning method chosen for its robustness and ability to handle complex feature interactions.</a:t>
            </a:r>
            <a:endParaRPr lang="ar-EG" sz="2400" dirty="0">
              <a:solidFill>
                <a:srgbClr val="45607B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endParaRPr lang="ar-EG" sz="2400" dirty="0">
              <a:solidFill>
                <a:srgbClr val="45607B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r>
              <a:rPr lang="en-US" sz="2800" b="1" dirty="0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Hyperparameter Tuning: </a:t>
            </a:r>
            <a:r>
              <a:rPr lang="en-US" sz="2400" dirty="0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Applied optimization techniques to refine the model's performance and prevent overfitting.</a:t>
            </a:r>
            <a:endParaRPr lang="ar-EG" sz="2400" dirty="0">
              <a:solidFill>
                <a:srgbClr val="45607B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endParaRPr lang="ar-EG" sz="2400" dirty="0">
              <a:solidFill>
                <a:srgbClr val="45607B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r>
              <a:rPr lang="en-US" sz="2800" b="1" dirty="0">
                <a:solidFill>
                  <a:srgbClr val="104378"/>
                </a:solidFill>
                <a:latin typeface="HK Grotesk"/>
                <a:ea typeface="HK Grotesk"/>
                <a:cs typeface="HK Grotesk"/>
                <a:sym typeface="HK Grotesk"/>
              </a:rPr>
              <a:t>Feature Importance</a:t>
            </a:r>
            <a:r>
              <a:rPr lang="en-US" sz="2400" dirty="0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: The model utilized key predictors identified during EDA, such as </a:t>
            </a:r>
            <a:r>
              <a:rPr lang="en-US" sz="2400" dirty="0" err="1">
                <a:solidFill>
                  <a:srgbClr val="104378"/>
                </a:solidFill>
                <a:highlight>
                  <a:srgbClr val="C0C0C0"/>
                </a:highlight>
                <a:latin typeface="HK Grotesk"/>
                <a:ea typeface="HK Grotesk"/>
                <a:cs typeface="HK Grotesk"/>
                <a:sym typeface="HK Grotesk"/>
              </a:rPr>
              <a:t>lead_time</a:t>
            </a:r>
            <a:r>
              <a:rPr lang="ar-EG" sz="2400" dirty="0">
                <a:solidFill>
                  <a:srgbClr val="104378"/>
                </a:solidFill>
                <a:highlight>
                  <a:srgbClr val="C0C0C0"/>
                </a:highlight>
                <a:latin typeface="HK Grotesk"/>
                <a:ea typeface="HK Grotesk"/>
                <a:cs typeface="HK Grotesk"/>
                <a:sym typeface="HK Grotesk"/>
              </a:rPr>
              <a:t>  </a:t>
            </a:r>
            <a:r>
              <a:rPr lang="en-US" sz="2400" dirty="0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ar-EG" sz="2400" dirty="0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dirty="0">
                <a:solidFill>
                  <a:srgbClr val="45607B"/>
                </a:solidFill>
                <a:highlight>
                  <a:srgbClr val="C0C0C0"/>
                </a:highlight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dirty="0" err="1">
                <a:solidFill>
                  <a:srgbClr val="104378"/>
                </a:solidFill>
                <a:highlight>
                  <a:srgbClr val="C0C0C0"/>
                </a:highlight>
                <a:latin typeface="HK Grotesk"/>
                <a:ea typeface="HK Grotesk"/>
                <a:cs typeface="HK Grotesk"/>
                <a:sym typeface="HK Grotesk"/>
              </a:rPr>
              <a:t>deposit_type</a:t>
            </a:r>
            <a:r>
              <a:rPr lang="en-US" sz="2400" dirty="0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, and </a:t>
            </a:r>
            <a:r>
              <a:rPr lang="en-US" sz="2400" dirty="0" err="1">
                <a:solidFill>
                  <a:srgbClr val="104378"/>
                </a:solidFill>
                <a:highlight>
                  <a:srgbClr val="C0C0C0"/>
                </a:highlight>
                <a:latin typeface="HK Grotesk"/>
                <a:ea typeface="HK Grotesk"/>
                <a:cs typeface="HK Grotesk"/>
                <a:sym typeface="HK Grotesk"/>
              </a:rPr>
              <a:t>adr</a:t>
            </a:r>
            <a:r>
              <a:rPr lang="en-US" sz="2400" dirty="0">
                <a:solidFill>
                  <a:srgbClr val="45607B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</p:txBody>
      </p:sp>
      <p:sp>
        <p:nvSpPr>
          <p:cNvPr id="18" name="Freeform 18"/>
          <p:cNvSpPr/>
          <p:nvPr/>
        </p:nvSpPr>
        <p:spPr>
          <a:xfrm>
            <a:off x="0" y="0"/>
            <a:ext cx="3214829" cy="3782152"/>
          </a:xfrm>
          <a:custGeom>
            <a:avLst/>
            <a:gdLst/>
            <a:ahLst/>
            <a:cxnLst/>
            <a:rect l="l" t="t" r="r" b="b"/>
            <a:pathLst>
              <a:path w="3214829" h="3782152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 flipH="1" flipV="1">
            <a:off x="15897316" y="5194278"/>
            <a:ext cx="4546302" cy="5348590"/>
          </a:xfrm>
          <a:custGeom>
            <a:avLst/>
            <a:gdLst/>
            <a:ahLst/>
            <a:cxnLst/>
            <a:rect l="l" t="t" r="r" b="b"/>
            <a:pathLst>
              <a:path w="4546302" h="5348590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E087F6-9BFB-D4F4-306D-CA6ACCB5BD30}"/>
              </a:ext>
            </a:extLst>
          </p:cNvPr>
          <p:cNvSpPr txBox="1"/>
          <p:nvPr/>
        </p:nvSpPr>
        <p:spPr>
          <a:xfrm>
            <a:off x="1828800" y="2301942"/>
            <a:ext cx="5791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165EA0"/>
                </a:solidFill>
                <a:latin typeface="Bebas Neue Cyrillic" panose="020B0604020202020204" charset="0"/>
              </a:rPr>
              <a:t>Algorithmic Approach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311D0-245E-6AC6-2C22-2440B3BB890C}"/>
              </a:ext>
            </a:extLst>
          </p:cNvPr>
          <p:cNvSpPr txBox="1"/>
          <p:nvPr/>
        </p:nvSpPr>
        <p:spPr>
          <a:xfrm>
            <a:off x="1637894" y="436565"/>
            <a:ext cx="1234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Model</a:t>
            </a:r>
            <a:r>
              <a:rPr lang="ar-EG" sz="7200" b="1" dirty="0">
                <a:solidFill>
                  <a:srgbClr val="104378"/>
                </a:solidFill>
                <a:latin typeface="Bebas Neue Cyrillic" panose="020B0604020202020204" charset="0"/>
              </a:rPr>
              <a:t> </a:t>
            </a: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Training &amp;</a:t>
            </a:r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 Evaluation</a:t>
            </a:r>
            <a:endParaRPr lang="en-US" sz="7200" b="1" dirty="0">
              <a:solidFill>
                <a:srgbClr val="104378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B2A4AD1-228E-D722-B950-B68E5665D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841" y="3071383"/>
            <a:ext cx="7744906" cy="53061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A64B0-25F0-2868-E2ED-4231A723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87213F-4819-6930-96FF-2E8B3DC910A8}"/>
              </a:ext>
            </a:extLst>
          </p:cNvPr>
          <p:cNvSpPr/>
          <p:nvPr/>
        </p:nvSpPr>
        <p:spPr>
          <a:xfrm>
            <a:off x="10439399" y="8420099"/>
            <a:ext cx="7306695" cy="769441"/>
          </a:xfrm>
          <a:prstGeom prst="roundRect">
            <a:avLst/>
          </a:prstGeom>
          <a:solidFill>
            <a:srgbClr val="10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2170B16-6D57-0635-C3D7-04AB0F0DFDC8}"/>
              </a:ext>
            </a:extLst>
          </p:cNvPr>
          <p:cNvSpPr txBox="1"/>
          <p:nvPr/>
        </p:nvSpPr>
        <p:spPr>
          <a:xfrm>
            <a:off x="392384" y="2903895"/>
            <a:ext cx="10076323" cy="7201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Model Configuration: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Running the Random Forest classifier on the </a:t>
            </a:r>
            <a:r>
              <a:rPr lang="ar-EG" altLang="en-US" sz="2400" dirty="0">
                <a:solidFill>
                  <a:srgbClr val="45607B"/>
                </a:solidFill>
                <a:latin typeface="HK Grotesk" panose="020B0604020202020204" charset="0"/>
              </a:rPr>
              <a:t> 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full set of processed features.</a:t>
            </a:r>
            <a:endParaRPr lang="ar-EG" alt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000" b="1" dirty="0">
                <a:solidFill>
                  <a:srgbClr val="165EA0"/>
                </a:solidFill>
                <a:latin typeface="HK Grotesk" panose="020B0604020202020204" charset="0"/>
              </a:rPr>
              <a:t>Confusion Matrix Analysis:</a:t>
            </a:r>
            <a:endParaRPr lang="ar-EG" altLang="en-US" sz="3000" b="1" dirty="0">
              <a:solidFill>
                <a:srgbClr val="165EA0"/>
              </a:solidFill>
              <a:latin typeface="HK Grotesk" panose="020B060402020202020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True Negatives (13,976):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Strong performance in identifying confirmed bookings.</a:t>
            </a:r>
            <a:endParaRPr lang="ar-EG" alt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True</a:t>
            </a:r>
            <a:r>
              <a:rPr lang="ar-EG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 </a:t>
            </a: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Positives (7,038)</a:t>
            </a:r>
            <a:r>
              <a:rPr lang="ar-EG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 </a:t>
            </a: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Successfully captured a large portion of cancellations.</a:t>
            </a:r>
            <a:endParaRPr lang="ar-EG" altLang="en-US" sz="2400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Observations: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While the initial accuracy is high, the model is processing many redundant variables which can lead to over-fitting </a:t>
            </a:r>
            <a:r>
              <a:rPr lang="en-US" altLang="en-US" sz="2400" dirty="0" err="1">
                <a:solidFill>
                  <a:srgbClr val="45607B"/>
                </a:solidFill>
                <a:latin typeface="HK Grotesk" panose="020B0604020202020204" charset="0"/>
              </a:rPr>
              <a:t>and</a:t>
            </a:r>
            <a:r>
              <a:rPr lang="en-US" altLang="en-US" sz="2400" b="1" dirty="0" err="1">
                <a:solidFill>
                  <a:srgbClr val="45607B"/>
                </a:solidFill>
                <a:latin typeface="HK Grotesk" panose="020B0604020202020204" charset="0"/>
              </a:rPr>
              <a:t>slower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 inference times.</a:t>
            </a:r>
            <a:endParaRPr lang="ar-EG" altLang="en-US" sz="2400" b="1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EG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 </a:t>
            </a: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Goal: </a:t>
            </a:r>
            <a:r>
              <a:rPr lang="en-US" altLang="en-US" sz="2400" dirty="0">
                <a:solidFill>
                  <a:srgbClr val="45607B"/>
                </a:solidFill>
                <a:latin typeface="HK Grotesk" panose="020B0604020202020204" charset="0"/>
              </a:rPr>
              <a:t>Streamline the model by identifying the most influential predictors to improve efficiency without sacrificing significant accuracy.</a:t>
            </a:r>
            <a:endParaRPr lang="en-US" altLang="en-US" sz="2000" dirty="0">
              <a:solidFill>
                <a:srgbClr val="45607B"/>
              </a:solidFill>
              <a:latin typeface="HK Grotesk" panose="020B0604020202020204" charset="0"/>
            </a:endParaRP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1C548918-5113-348E-E9AF-EE9EE1924366}"/>
              </a:ext>
            </a:extLst>
          </p:cNvPr>
          <p:cNvSpPr/>
          <p:nvPr/>
        </p:nvSpPr>
        <p:spPr>
          <a:xfrm>
            <a:off x="0" y="0"/>
            <a:ext cx="3214829" cy="3782152"/>
          </a:xfrm>
          <a:custGeom>
            <a:avLst/>
            <a:gdLst/>
            <a:ahLst/>
            <a:cxnLst/>
            <a:rect l="l" t="t" r="r" b="b"/>
            <a:pathLst>
              <a:path w="3214829" h="3782152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C82F8F-626D-277F-7CF8-DEF71979D235}"/>
              </a:ext>
            </a:extLst>
          </p:cNvPr>
          <p:cNvSpPr txBox="1"/>
          <p:nvPr/>
        </p:nvSpPr>
        <p:spPr>
          <a:xfrm>
            <a:off x="1823167" y="1885674"/>
            <a:ext cx="87809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165EA0"/>
                </a:solidFill>
                <a:latin typeface="Bebas Neue Cyrillic" panose="020B0604020202020204" charset="0"/>
              </a:rPr>
              <a:t>Model Performance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(</a:t>
            </a:r>
            <a:r>
              <a:rPr lang="ar-EG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Before Feature Selection</a:t>
            </a:r>
            <a:r>
              <a:rPr lang="ar-EG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)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3310AD-A344-83FC-013A-059C047F1FCC}"/>
              </a:ext>
            </a:extLst>
          </p:cNvPr>
          <p:cNvSpPr txBox="1"/>
          <p:nvPr/>
        </p:nvSpPr>
        <p:spPr>
          <a:xfrm>
            <a:off x="1637894" y="436565"/>
            <a:ext cx="1234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Model</a:t>
            </a:r>
            <a:r>
              <a:rPr lang="ar-EG" sz="7200" b="1" dirty="0">
                <a:solidFill>
                  <a:srgbClr val="104378"/>
                </a:solidFill>
                <a:latin typeface="Bebas Neue Cyrillic" panose="020B0604020202020204" charset="0"/>
              </a:rPr>
              <a:t> </a:t>
            </a: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Training &amp;</a:t>
            </a:r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 Evaluation</a:t>
            </a:r>
            <a:endParaRPr lang="en-US" sz="7200" b="1" dirty="0">
              <a:solidFill>
                <a:srgbClr val="104378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0C450-6301-8507-E3DE-4DE0AF7A3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0" y="2324802"/>
            <a:ext cx="7306695" cy="59253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5CCBB8-C3C6-59B2-1B63-61D0EF174A39}"/>
              </a:ext>
            </a:extLst>
          </p:cNvPr>
          <p:cNvSpPr txBox="1"/>
          <p:nvPr/>
        </p:nvSpPr>
        <p:spPr>
          <a:xfrm>
            <a:off x="10591800" y="8420099"/>
            <a:ext cx="51531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E8E8E8"/>
                </a:solidFill>
                <a:latin typeface="Bebas Neue Cyrillic" panose="020B0604020202020204" charset="0"/>
              </a:rPr>
              <a:t>Before feature selections</a:t>
            </a: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2782F082-2785-7145-3B96-324F84D84565}"/>
              </a:ext>
            </a:extLst>
          </p:cNvPr>
          <p:cNvSpPr/>
          <p:nvPr/>
        </p:nvSpPr>
        <p:spPr>
          <a:xfrm flipV="1">
            <a:off x="15744916" y="8801100"/>
            <a:ext cx="1866702" cy="0"/>
          </a:xfrm>
          <a:prstGeom prst="line">
            <a:avLst/>
          </a:prstGeom>
          <a:ln w="57150" cap="flat">
            <a:solidFill>
              <a:srgbClr val="E8E8E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4000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E320AB9B-0C24-4A5E-6A4A-561E21A19671}"/>
              </a:ext>
            </a:extLst>
          </p:cNvPr>
          <p:cNvSpPr/>
          <p:nvPr/>
        </p:nvSpPr>
        <p:spPr>
          <a:xfrm flipH="1" flipV="1">
            <a:off x="14763570" y="7277100"/>
            <a:ext cx="5724244" cy="6734405"/>
          </a:xfrm>
          <a:custGeom>
            <a:avLst/>
            <a:gdLst/>
            <a:ahLst/>
            <a:cxnLst/>
            <a:rect l="l" t="t" r="r" b="b"/>
            <a:pathLst>
              <a:path w="5724244" h="6734405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49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F3CB2-953E-B148-486E-6B074EBB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7BE8D487-B5FF-D78A-DEAA-A671C5945AF8}"/>
              </a:ext>
            </a:extLst>
          </p:cNvPr>
          <p:cNvSpPr/>
          <p:nvPr/>
        </p:nvSpPr>
        <p:spPr>
          <a:xfrm flipH="1" flipV="1">
            <a:off x="14763570" y="7277100"/>
            <a:ext cx="5724244" cy="6734405"/>
          </a:xfrm>
          <a:custGeom>
            <a:avLst/>
            <a:gdLst/>
            <a:ahLst/>
            <a:cxnLst/>
            <a:rect l="l" t="t" r="r" b="b"/>
            <a:pathLst>
              <a:path w="5724244" h="6734405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26BDEA0-B40B-0E84-7455-DE8B15FA6BE7}"/>
              </a:ext>
            </a:extLst>
          </p:cNvPr>
          <p:cNvSpPr txBox="1"/>
          <p:nvPr/>
        </p:nvSpPr>
        <p:spPr>
          <a:xfrm>
            <a:off x="391965" y="3017859"/>
            <a:ext cx="9942749" cy="6832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Feature Refinement: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We narrowed down the variables to the top contributors (e.g., </a:t>
            </a:r>
            <a:r>
              <a:rPr lang="en-US" altLang="en-US" sz="2400" b="1" dirty="0" err="1">
                <a:solidFill>
                  <a:srgbClr val="45607B"/>
                </a:solidFill>
                <a:latin typeface="HK Grotesk" panose="020B0604020202020204" charset="0"/>
              </a:rPr>
              <a:t>lead_time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, deposit</a:t>
            </a:r>
            <a:r>
              <a:rPr lang="ar-EG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type, </a:t>
            </a:r>
            <a:r>
              <a:rPr lang="en-US" altLang="en-US" sz="2400" b="1" dirty="0" err="1">
                <a:solidFill>
                  <a:srgbClr val="45607B"/>
                </a:solidFill>
                <a:latin typeface="HK Grotesk" panose="020B0604020202020204" charset="0"/>
              </a:rPr>
              <a:t>adr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) as identified during EDA.</a:t>
            </a:r>
            <a:endParaRPr lang="ar-EG" altLang="en-US" sz="2400" b="1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000" b="1" dirty="0">
                <a:solidFill>
                  <a:srgbClr val="165EA0"/>
                </a:solidFill>
                <a:latin typeface="HK Grotesk" panose="020B0604020202020204" charset="0"/>
              </a:rPr>
              <a:t>Optimized Matrix Analysis:</a:t>
            </a:r>
            <a:endParaRPr lang="ar-EG" altLang="en-US" sz="3000" b="1" dirty="0">
              <a:solidFill>
                <a:srgbClr val="165EA0"/>
              </a:solidFill>
              <a:latin typeface="HK Grotesk" panose="020B060402020202020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Results: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The model maintained a robust predictive power with </a:t>
            </a:r>
            <a:r>
              <a:rPr lang="en-US" altLang="en-US" sz="2400" b="1" dirty="0">
                <a:solidFill>
                  <a:srgbClr val="165EA0"/>
                </a:solidFill>
                <a:highlight>
                  <a:srgbClr val="C0C0C0"/>
                </a:highlight>
                <a:latin typeface="HK Grotesk" panose="020B0604020202020204" charset="0"/>
              </a:rPr>
              <a:t>13,200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 True Negatives and </a:t>
            </a:r>
            <a:r>
              <a:rPr lang="en-US" altLang="en-US" sz="2400" b="1" dirty="0">
                <a:solidFill>
                  <a:srgbClr val="165EA0"/>
                </a:solidFill>
                <a:highlight>
                  <a:srgbClr val="C0C0C0"/>
                </a:highlight>
                <a:latin typeface="HK Grotesk" panose="020B0604020202020204" charset="0"/>
              </a:rPr>
              <a:t>6,087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 True Positives.</a:t>
            </a:r>
            <a:endParaRPr lang="ar-EG" altLang="en-US" sz="2400" b="1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Accuracy: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Achieved a final stable accuracy of </a:t>
            </a:r>
            <a:r>
              <a:rPr lang="en-US" altLang="en-US" sz="2400" b="1" dirty="0">
                <a:solidFill>
                  <a:srgbClr val="165EA0"/>
                </a:solidFill>
                <a:latin typeface="HK Grotesk" panose="020B0604020202020204" charset="0"/>
              </a:rPr>
              <a:t>87%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.Strategic</a:t>
            </a:r>
            <a:endParaRPr lang="ar-EG" altLang="en-US" sz="2400" b="1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165EA0"/>
                </a:solidFill>
                <a:latin typeface="HK Grotesk" panose="020B0604020202020204" charset="0"/>
              </a:rPr>
              <a:t>Advantage:</a:t>
            </a:r>
            <a:endParaRPr lang="ar-EG" altLang="en-US" sz="3200" b="1" dirty="0">
              <a:solidFill>
                <a:srgbClr val="165EA0"/>
              </a:solidFill>
              <a:highlight>
                <a:srgbClr val="C0C0C0"/>
              </a:highlight>
              <a:latin typeface="HK Grotesk" panose="020B060402020202020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Reduced Complexity: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The model is now lighter and faster, making it more suitable for real-time hotel booking</a:t>
            </a:r>
            <a:r>
              <a:rPr lang="ar-EG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systems.</a:t>
            </a:r>
            <a:endParaRPr lang="ar-EG" altLang="en-US" sz="2400" b="1" dirty="0">
              <a:solidFill>
                <a:srgbClr val="45607B"/>
              </a:solidFill>
              <a:latin typeface="HK Grotesk" panose="020B060402020202020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solidFill>
                  <a:srgbClr val="104378"/>
                </a:solidFill>
                <a:latin typeface="HK Grotesk" panose="020B0604020202020204" charset="0"/>
              </a:rPr>
              <a:t>Generalization: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By removing </a:t>
            </a:r>
            <a:r>
              <a:rPr lang="en-US" altLang="en-US" sz="2400" b="1" dirty="0">
                <a:solidFill>
                  <a:srgbClr val="165EA0"/>
                </a:solidFill>
                <a:highlight>
                  <a:srgbClr val="C0C0C0"/>
                </a:highlight>
                <a:latin typeface="HK Grotesk" panose="020B0604020202020204" charset="0"/>
              </a:rPr>
              <a:t>"noise" </a:t>
            </a:r>
            <a:r>
              <a:rPr lang="en-US" altLang="en-US" sz="2400" b="1" dirty="0">
                <a:solidFill>
                  <a:srgbClr val="45607B"/>
                </a:solidFill>
                <a:latin typeface="HK Grotesk" panose="020B0604020202020204" charset="0"/>
              </a:rPr>
              <a:t>(redundant features), the model is more likely to perform accurately on new, unseen data.</a:t>
            </a:r>
            <a:endParaRPr lang="en-US" altLang="en-US" sz="2000" dirty="0">
              <a:solidFill>
                <a:srgbClr val="45607B"/>
              </a:solidFill>
              <a:latin typeface="HK Grotesk" panose="020B060402020202020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5C69A2-1B5B-7131-2224-A6E860F290B9}"/>
              </a:ext>
            </a:extLst>
          </p:cNvPr>
          <p:cNvSpPr txBox="1"/>
          <p:nvPr/>
        </p:nvSpPr>
        <p:spPr>
          <a:xfrm>
            <a:off x="1905000" y="2073459"/>
            <a:ext cx="8153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165EA0"/>
                </a:solidFill>
                <a:latin typeface="Bebas Neue Cyrillic" panose="020B0604020202020204" charset="0"/>
              </a:rPr>
              <a:t>Model Performance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(</a:t>
            </a:r>
            <a:r>
              <a:rPr lang="ar-EG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After Feature Selection</a:t>
            </a:r>
            <a:r>
              <a:rPr lang="ar-EG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 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)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Bebas Neue Cyrillic" panose="020B060402020202020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C89A47-BE93-BAB7-BA44-C0FAE243BC8A}"/>
              </a:ext>
            </a:extLst>
          </p:cNvPr>
          <p:cNvSpPr txBox="1"/>
          <p:nvPr/>
        </p:nvSpPr>
        <p:spPr>
          <a:xfrm>
            <a:off x="1637894" y="436565"/>
            <a:ext cx="1234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Model</a:t>
            </a:r>
            <a:r>
              <a:rPr lang="ar-EG" sz="7200" b="1" dirty="0">
                <a:solidFill>
                  <a:srgbClr val="104378"/>
                </a:solidFill>
                <a:latin typeface="Bebas Neue Cyrillic" panose="020B0604020202020204" charset="0"/>
              </a:rPr>
              <a:t> </a:t>
            </a:r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 Cyrillic" panose="020B0604020202020204" charset="0"/>
              </a:rPr>
              <a:t>Training &amp;</a:t>
            </a:r>
            <a:r>
              <a:rPr lang="en-US" sz="7200" b="1" dirty="0">
                <a:solidFill>
                  <a:srgbClr val="104378"/>
                </a:solidFill>
                <a:latin typeface="Bebas Neue Cyrillic" panose="020B0604020202020204" charset="0"/>
              </a:rPr>
              <a:t> Evaluation</a:t>
            </a:r>
            <a:endParaRPr lang="en-US" sz="7200" b="1" dirty="0">
              <a:solidFill>
                <a:srgbClr val="104378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8E0CEA-A7CA-7E9E-E575-120FDC241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398" y="2411240"/>
            <a:ext cx="7306695" cy="563393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5C7DF2-181A-8F4D-C90D-D936D1BCA4B7}"/>
              </a:ext>
            </a:extLst>
          </p:cNvPr>
          <p:cNvSpPr/>
          <p:nvPr/>
        </p:nvSpPr>
        <p:spPr>
          <a:xfrm>
            <a:off x="10439399" y="8420099"/>
            <a:ext cx="7306695" cy="769441"/>
          </a:xfrm>
          <a:prstGeom prst="roundRect">
            <a:avLst/>
          </a:prstGeom>
          <a:solidFill>
            <a:srgbClr val="104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27D251-2A63-F719-A7EF-502A6F88756B}"/>
              </a:ext>
            </a:extLst>
          </p:cNvPr>
          <p:cNvSpPr txBox="1"/>
          <p:nvPr/>
        </p:nvSpPr>
        <p:spPr>
          <a:xfrm>
            <a:off x="12601484" y="8400756"/>
            <a:ext cx="51531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E8E8E8"/>
                </a:solidFill>
                <a:latin typeface="Bebas Neue Cyrillic" panose="020B0604020202020204" charset="0"/>
              </a:rPr>
              <a:t>after feature selections</a:t>
            </a: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59BD2207-6298-8DFC-3811-F8406E26E3B2}"/>
              </a:ext>
            </a:extLst>
          </p:cNvPr>
          <p:cNvSpPr/>
          <p:nvPr/>
        </p:nvSpPr>
        <p:spPr>
          <a:xfrm flipV="1">
            <a:off x="10630098" y="8801100"/>
            <a:ext cx="1866702" cy="0"/>
          </a:xfrm>
          <a:prstGeom prst="line">
            <a:avLst/>
          </a:prstGeom>
          <a:ln w="57150" cap="flat">
            <a:solidFill>
              <a:srgbClr val="E8E8E8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 sz="4000"/>
          </a:p>
        </p:txBody>
      </p:sp>
      <p:sp>
        <p:nvSpPr>
          <p:cNvPr id="14" name="Freeform 18">
            <a:extLst>
              <a:ext uri="{FF2B5EF4-FFF2-40B4-BE49-F238E27FC236}">
                <a16:creationId xmlns:a16="http://schemas.microsoft.com/office/drawing/2014/main" id="{CE705989-AC3F-2FEE-528C-2815DED9DAE7}"/>
              </a:ext>
            </a:extLst>
          </p:cNvPr>
          <p:cNvSpPr/>
          <p:nvPr/>
        </p:nvSpPr>
        <p:spPr>
          <a:xfrm>
            <a:off x="0" y="0"/>
            <a:ext cx="3214829" cy="3782152"/>
          </a:xfrm>
          <a:custGeom>
            <a:avLst/>
            <a:gdLst/>
            <a:ahLst/>
            <a:cxnLst/>
            <a:rect l="l" t="t" r="r" b="b"/>
            <a:pathLst>
              <a:path w="3214829" h="3782152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78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77D39-EC98-5890-352C-3638672B1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A206631-7FE7-E7C3-3796-EE8456931656}"/>
              </a:ext>
            </a:extLst>
          </p:cNvPr>
          <p:cNvSpPr txBox="1"/>
          <p:nvPr/>
        </p:nvSpPr>
        <p:spPr>
          <a:xfrm>
            <a:off x="838200" y="2921032"/>
            <a:ext cx="5215916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999" dirty="0" err="1">
                <a:solidFill>
                  <a:srgbClr val="10437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Performanc</a:t>
            </a:r>
            <a:endParaRPr lang="en-US" sz="9999" dirty="0">
              <a:solidFill>
                <a:srgbClr val="104378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0B4DB09-18B8-E05F-7CC5-BBA4171A0F56}"/>
              </a:ext>
            </a:extLst>
          </p:cNvPr>
          <p:cNvSpPr/>
          <p:nvPr/>
        </p:nvSpPr>
        <p:spPr>
          <a:xfrm>
            <a:off x="1768883" y="4718730"/>
            <a:ext cx="3962410" cy="3485842"/>
          </a:xfrm>
          <a:custGeom>
            <a:avLst/>
            <a:gdLst/>
            <a:ahLst/>
            <a:cxnLst/>
            <a:rect l="l" t="t" r="r" b="b"/>
            <a:pathLst>
              <a:path w="1168961" h="808258">
                <a:moveTo>
                  <a:pt x="39077" y="0"/>
                </a:moveTo>
                <a:lnTo>
                  <a:pt x="1129885" y="0"/>
                </a:lnTo>
                <a:cubicBezTo>
                  <a:pt x="1140248" y="0"/>
                  <a:pt x="1150188" y="4117"/>
                  <a:pt x="1157516" y="11445"/>
                </a:cubicBezTo>
                <a:cubicBezTo>
                  <a:pt x="1164844" y="18774"/>
                  <a:pt x="1168961" y="28713"/>
                  <a:pt x="1168961" y="39077"/>
                </a:cubicBezTo>
                <a:lnTo>
                  <a:pt x="1168961" y="769182"/>
                </a:lnTo>
                <a:cubicBezTo>
                  <a:pt x="1168961" y="779545"/>
                  <a:pt x="1164844" y="789485"/>
                  <a:pt x="1157516" y="796813"/>
                </a:cubicBezTo>
                <a:cubicBezTo>
                  <a:pt x="1150188" y="804141"/>
                  <a:pt x="1140248" y="808258"/>
                  <a:pt x="1129885" y="808258"/>
                </a:cubicBezTo>
                <a:lnTo>
                  <a:pt x="39077" y="808258"/>
                </a:lnTo>
                <a:cubicBezTo>
                  <a:pt x="28713" y="808258"/>
                  <a:pt x="18774" y="804141"/>
                  <a:pt x="11445" y="796813"/>
                </a:cubicBezTo>
                <a:cubicBezTo>
                  <a:pt x="4117" y="789485"/>
                  <a:pt x="0" y="779545"/>
                  <a:pt x="0" y="769182"/>
                </a:cubicBezTo>
                <a:lnTo>
                  <a:pt x="0" y="39077"/>
                </a:lnTo>
                <a:cubicBezTo>
                  <a:pt x="0" y="28713"/>
                  <a:pt x="4117" y="18774"/>
                  <a:pt x="11445" y="11445"/>
                </a:cubicBezTo>
                <a:cubicBezTo>
                  <a:pt x="18774" y="4117"/>
                  <a:pt x="28713" y="0"/>
                  <a:pt x="39077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E473844-9873-3A59-A076-C159E566FED1}"/>
              </a:ext>
            </a:extLst>
          </p:cNvPr>
          <p:cNvSpPr/>
          <p:nvPr/>
        </p:nvSpPr>
        <p:spPr>
          <a:xfrm>
            <a:off x="6437590" y="4718730"/>
            <a:ext cx="3962410" cy="3485843"/>
          </a:xfrm>
          <a:custGeom>
            <a:avLst/>
            <a:gdLst/>
            <a:ahLst/>
            <a:cxnLst/>
            <a:rect l="l" t="t" r="r" b="b"/>
            <a:pathLst>
              <a:path w="1168961" h="808258">
                <a:moveTo>
                  <a:pt x="39077" y="0"/>
                </a:moveTo>
                <a:lnTo>
                  <a:pt x="1129885" y="0"/>
                </a:lnTo>
                <a:cubicBezTo>
                  <a:pt x="1140248" y="0"/>
                  <a:pt x="1150188" y="4117"/>
                  <a:pt x="1157516" y="11445"/>
                </a:cubicBezTo>
                <a:cubicBezTo>
                  <a:pt x="1164844" y="18774"/>
                  <a:pt x="1168961" y="28713"/>
                  <a:pt x="1168961" y="39077"/>
                </a:cubicBezTo>
                <a:lnTo>
                  <a:pt x="1168961" y="769182"/>
                </a:lnTo>
                <a:cubicBezTo>
                  <a:pt x="1168961" y="779545"/>
                  <a:pt x="1164844" y="789485"/>
                  <a:pt x="1157516" y="796813"/>
                </a:cubicBezTo>
                <a:cubicBezTo>
                  <a:pt x="1150188" y="804141"/>
                  <a:pt x="1140248" y="808258"/>
                  <a:pt x="1129885" y="808258"/>
                </a:cubicBezTo>
                <a:lnTo>
                  <a:pt x="39077" y="808258"/>
                </a:lnTo>
                <a:cubicBezTo>
                  <a:pt x="28713" y="808258"/>
                  <a:pt x="18774" y="804141"/>
                  <a:pt x="11445" y="796813"/>
                </a:cubicBezTo>
                <a:cubicBezTo>
                  <a:pt x="4117" y="789485"/>
                  <a:pt x="0" y="779545"/>
                  <a:pt x="0" y="769182"/>
                </a:cubicBezTo>
                <a:lnTo>
                  <a:pt x="0" y="39077"/>
                </a:lnTo>
                <a:cubicBezTo>
                  <a:pt x="0" y="28713"/>
                  <a:pt x="4117" y="18774"/>
                  <a:pt x="11445" y="11445"/>
                </a:cubicBezTo>
                <a:cubicBezTo>
                  <a:pt x="18774" y="4117"/>
                  <a:pt x="28713" y="0"/>
                  <a:pt x="39077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0AAC79C-AF3E-B345-8C0D-E99EC6C83F2A}"/>
              </a:ext>
            </a:extLst>
          </p:cNvPr>
          <p:cNvSpPr/>
          <p:nvPr/>
        </p:nvSpPr>
        <p:spPr>
          <a:xfrm>
            <a:off x="10953412" y="4726350"/>
            <a:ext cx="3962410" cy="3482691"/>
          </a:xfrm>
          <a:custGeom>
            <a:avLst/>
            <a:gdLst/>
            <a:ahLst/>
            <a:cxnLst/>
            <a:rect l="l" t="t" r="r" b="b"/>
            <a:pathLst>
              <a:path w="1168961" h="808258">
                <a:moveTo>
                  <a:pt x="39077" y="0"/>
                </a:moveTo>
                <a:lnTo>
                  <a:pt x="1129885" y="0"/>
                </a:lnTo>
                <a:cubicBezTo>
                  <a:pt x="1140248" y="0"/>
                  <a:pt x="1150188" y="4117"/>
                  <a:pt x="1157516" y="11445"/>
                </a:cubicBezTo>
                <a:cubicBezTo>
                  <a:pt x="1164844" y="18774"/>
                  <a:pt x="1168961" y="28713"/>
                  <a:pt x="1168961" y="39077"/>
                </a:cubicBezTo>
                <a:lnTo>
                  <a:pt x="1168961" y="769182"/>
                </a:lnTo>
                <a:cubicBezTo>
                  <a:pt x="1168961" y="779545"/>
                  <a:pt x="1164844" y="789485"/>
                  <a:pt x="1157516" y="796813"/>
                </a:cubicBezTo>
                <a:cubicBezTo>
                  <a:pt x="1150188" y="804141"/>
                  <a:pt x="1140248" y="808258"/>
                  <a:pt x="1129885" y="808258"/>
                </a:cubicBezTo>
                <a:lnTo>
                  <a:pt x="39077" y="808258"/>
                </a:lnTo>
                <a:cubicBezTo>
                  <a:pt x="28713" y="808258"/>
                  <a:pt x="18774" y="804141"/>
                  <a:pt x="11445" y="796813"/>
                </a:cubicBezTo>
                <a:cubicBezTo>
                  <a:pt x="4117" y="789485"/>
                  <a:pt x="0" y="779545"/>
                  <a:pt x="0" y="769182"/>
                </a:cubicBezTo>
                <a:lnTo>
                  <a:pt x="0" y="39077"/>
                </a:lnTo>
                <a:cubicBezTo>
                  <a:pt x="0" y="28713"/>
                  <a:pt x="4117" y="18774"/>
                  <a:pt x="11445" y="11445"/>
                </a:cubicBezTo>
                <a:cubicBezTo>
                  <a:pt x="18774" y="4117"/>
                  <a:pt x="28713" y="0"/>
                  <a:pt x="39077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1E97FAA7-01F8-FC98-1D55-773C5F23AEAF}"/>
              </a:ext>
            </a:extLst>
          </p:cNvPr>
          <p:cNvSpPr/>
          <p:nvPr/>
        </p:nvSpPr>
        <p:spPr>
          <a:xfrm>
            <a:off x="0" y="0"/>
            <a:ext cx="3214829" cy="3782152"/>
          </a:xfrm>
          <a:custGeom>
            <a:avLst/>
            <a:gdLst/>
            <a:ahLst/>
            <a:cxnLst/>
            <a:rect l="l" t="t" r="r" b="b"/>
            <a:pathLst>
              <a:path w="3214829" h="3782152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092FC51D-BCFB-9843-E815-D3B6411313EB}"/>
              </a:ext>
            </a:extLst>
          </p:cNvPr>
          <p:cNvSpPr/>
          <p:nvPr/>
        </p:nvSpPr>
        <p:spPr>
          <a:xfrm flipH="1" flipV="1">
            <a:off x="15897316" y="5194278"/>
            <a:ext cx="4546302" cy="5348590"/>
          </a:xfrm>
          <a:custGeom>
            <a:avLst/>
            <a:gdLst/>
            <a:ahLst/>
            <a:cxnLst/>
            <a:rect l="l" t="t" r="r" b="b"/>
            <a:pathLst>
              <a:path w="4546302" h="5348590">
                <a:moveTo>
                  <a:pt x="4546302" y="5348590"/>
                </a:moveTo>
                <a:lnTo>
                  <a:pt x="0" y="5348590"/>
                </a:lnTo>
                <a:lnTo>
                  <a:pt x="0" y="0"/>
                </a:lnTo>
                <a:lnTo>
                  <a:pt x="4546302" y="0"/>
                </a:lnTo>
                <a:lnTo>
                  <a:pt x="4546302" y="534859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8499" y="4703853"/>
            <a:ext cx="3572237" cy="3572237"/>
          </a:xfrm>
          <a:prstGeom prst="rect">
            <a:avLst/>
          </a:prstGeom>
        </p:spPr>
      </p:pic>
      <p:pic>
        <p:nvPicPr>
          <p:cNvPr id="2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718730"/>
            <a:ext cx="3572237" cy="357223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43992CA-4A41-9B06-98E3-8C0364173F9A}"/>
              </a:ext>
            </a:extLst>
          </p:cNvPr>
          <p:cNvSpPr txBox="1"/>
          <p:nvPr/>
        </p:nvSpPr>
        <p:spPr>
          <a:xfrm>
            <a:off x="11349626" y="8298587"/>
            <a:ext cx="31699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104378"/>
                </a:solidFill>
                <a:latin typeface="Bebas Neue Cyrillic" panose="020B0604020202020204" charset="0"/>
              </a:rPr>
              <a:t>Random Forest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20FF89-63CB-3FB3-7B12-3CA3A32E4B96}"/>
              </a:ext>
            </a:extLst>
          </p:cNvPr>
          <p:cNvSpPr txBox="1"/>
          <p:nvPr/>
        </p:nvSpPr>
        <p:spPr>
          <a:xfrm>
            <a:off x="6830527" y="8298587"/>
            <a:ext cx="31699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104378"/>
                </a:solidFill>
                <a:latin typeface="Bebas Neue Cyrillic" panose="020B0604020202020204" charset="0"/>
              </a:rPr>
              <a:t>Decision Tree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99A182-1ADE-A2CF-756A-7B75D778AF4B}"/>
              </a:ext>
            </a:extLst>
          </p:cNvPr>
          <p:cNvSpPr txBox="1"/>
          <p:nvPr/>
        </p:nvSpPr>
        <p:spPr>
          <a:xfrm>
            <a:off x="1768883" y="8298587"/>
            <a:ext cx="39624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104378"/>
                </a:solidFill>
                <a:latin typeface="Bebas Neue Cyrillic" panose="020B0604020202020204" charset="0"/>
              </a:rPr>
              <a:t>Logistic Regression</a:t>
            </a:r>
            <a:endParaRPr lang="en-US" sz="4400" b="1" dirty="0">
              <a:solidFill>
                <a:srgbClr val="104378"/>
              </a:solidFill>
              <a:latin typeface="Bebas Neue Cyrillic" panose="020B060402020202020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084727-2133-B317-83EC-034EE76D5F8B}"/>
              </a:ext>
            </a:extLst>
          </p:cNvPr>
          <p:cNvSpPr txBox="1"/>
          <p:nvPr/>
        </p:nvSpPr>
        <p:spPr>
          <a:xfrm>
            <a:off x="6714605" y="1889980"/>
            <a:ext cx="820121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45607B"/>
                </a:solidFill>
                <a:latin typeface="HK Grotesk" panose="020B0604020202020204" charset="0"/>
              </a:rPr>
              <a:t>Random Forest achieved the best performance among all models, providing the highest accuracy and a strong balance between precision and recall.</a:t>
            </a:r>
          </a:p>
        </p:txBody>
      </p:sp>
      <p:sp>
        <p:nvSpPr>
          <p:cNvPr id="32" name="AutoShape 8">
            <a:extLst>
              <a:ext uri="{FF2B5EF4-FFF2-40B4-BE49-F238E27FC236}">
                <a16:creationId xmlns:a16="http://schemas.microsoft.com/office/drawing/2014/main" id="{6611FD6C-37AC-476E-6D7C-0913AE255643}"/>
              </a:ext>
            </a:extLst>
          </p:cNvPr>
          <p:cNvSpPr/>
          <p:nvPr/>
        </p:nvSpPr>
        <p:spPr>
          <a:xfrm flipV="1">
            <a:off x="2590800" y="2552700"/>
            <a:ext cx="2610971" cy="0"/>
          </a:xfrm>
          <a:prstGeom prst="line">
            <a:avLst/>
          </a:prstGeom>
          <a:ln w="76200" cap="flat">
            <a:solidFill>
              <a:srgbClr val="4C749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4588502-934C-79C6-DEC2-BCB0021A79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3969" y="4648312"/>
            <a:ext cx="3572237" cy="357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108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C9068-A3AF-CC00-9C58-626E6030B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67276EA-A880-A5E6-E84F-538DB05E432F}"/>
              </a:ext>
            </a:extLst>
          </p:cNvPr>
          <p:cNvSpPr txBox="1"/>
          <p:nvPr/>
        </p:nvSpPr>
        <p:spPr>
          <a:xfrm>
            <a:off x="1784955" y="1104900"/>
            <a:ext cx="5715000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999"/>
              </a:lnSpc>
            </a:pPr>
            <a:r>
              <a:rPr lang="en-US" sz="9600" dirty="0">
                <a:solidFill>
                  <a:srgbClr val="165EA0"/>
                </a:solidFill>
                <a:latin typeface="Bebas Neue Cyrillic" panose="020B0604020202020204" charset="0"/>
              </a:rPr>
              <a:t>Conclusion</a:t>
            </a:r>
            <a:endParaRPr lang="en-US" sz="9999" dirty="0">
              <a:solidFill>
                <a:srgbClr val="165EA0"/>
              </a:solidFill>
              <a:latin typeface="Bebas Neue Cyrillic" panose="020B0604020202020204" charset="0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B789C-B5F5-6DE5-4797-E575A28CEA7E}"/>
              </a:ext>
            </a:extLst>
          </p:cNvPr>
          <p:cNvSpPr txBox="1"/>
          <p:nvPr/>
        </p:nvSpPr>
        <p:spPr>
          <a:xfrm>
            <a:off x="3130197" y="2966333"/>
            <a:ext cx="893907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104378"/>
                </a:solidFill>
              </a:rPr>
              <a:t>This project successfully applied machine learning techniques to predict hotel booking cancellations. The selected model can help hotels:</a:t>
            </a:r>
            <a:endParaRPr lang="ar-EG" sz="3200" dirty="0">
              <a:solidFill>
                <a:srgbClr val="104378"/>
              </a:solidFill>
            </a:endParaRPr>
          </a:p>
          <a:p>
            <a:r>
              <a:rPr lang="ar-EG" sz="3200" dirty="0"/>
              <a:t>	</a:t>
            </a:r>
            <a:r>
              <a:rPr lang="en-US" sz="3200" dirty="0">
                <a:solidFill>
                  <a:srgbClr val="165EA0"/>
                </a:solidFill>
              </a:rPr>
              <a:t>• Anticipate cancellations </a:t>
            </a:r>
            <a:endParaRPr lang="ar-EG" sz="3200" dirty="0">
              <a:solidFill>
                <a:srgbClr val="165EA0"/>
              </a:solidFill>
            </a:endParaRPr>
          </a:p>
          <a:p>
            <a:r>
              <a:rPr lang="ar-EG" sz="3200" dirty="0">
                <a:solidFill>
                  <a:srgbClr val="165EA0"/>
                </a:solidFill>
              </a:rPr>
              <a:t>	</a:t>
            </a:r>
            <a:r>
              <a:rPr lang="en-US" sz="3200" dirty="0">
                <a:solidFill>
                  <a:srgbClr val="165EA0"/>
                </a:solidFill>
              </a:rPr>
              <a:t>• Improve revenue management </a:t>
            </a:r>
            <a:endParaRPr lang="ar-EG" sz="3200" dirty="0">
              <a:solidFill>
                <a:srgbClr val="165EA0"/>
              </a:solidFill>
            </a:endParaRPr>
          </a:p>
          <a:p>
            <a:r>
              <a:rPr lang="ar-EG" sz="3200" dirty="0">
                <a:solidFill>
                  <a:srgbClr val="165EA0"/>
                </a:solidFill>
              </a:rPr>
              <a:t>	</a:t>
            </a:r>
            <a:r>
              <a:rPr lang="en-US" sz="3200" dirty="0">
                <a:solidFill>
                  <a:srgbClr val="165EA0"/>
                </a:solidFill>
              </a:rPr>
              <a:t>• Optimize booking strategies </a:t>
            </a:r>
            <a:endParaRPr lang="ar-EG" sz="3200" dirty="0">
              <a:solidFill>
                <a:srgbClr val="165EA0"/>
              </a:solidFill>
            </a:endParaRPr>
          </a:p>
          <a:p>
            <a:endParaRPr lang="ar-EG" sz="3200" dirty="0">
              <a:solidFill>
                <a:srgbClr val="165EA0"/>
              </a:solidFill>
            </a:endParaRPr>
          </a:p>
          <a:p>
            <a:r>
              <a:rPr lang="en-US" sz="3200" dirty="0">
                <a:solidFill>
                  <a:srgbClr val="104378"/>
                </a:solidFill>
              </a:rPr>
              <a:t>Future improvements may include:</a:t>
            </a:r>
            <a:endParaRPr lang="ar-EG" sz="3200" dirty="0">
              <a:solidFill>
                <a:srgbClr val="104378"/>
              </a:solidFill>
            </a:endParaRPr>
          </a:p>
          <a:p>
            <a:r>
              <a:rPr lang="ar-EG" sz="3200" dirty="0"/>
              <a:t>	</a:t>
            </a:r>
            <a:r>
              <a:rPr lang="en-US" sz="3200" dirty="0">
                <a:solidFill>
                  <a:srgbClr val="165EA0"/>
                </a:solidFill>
              </a:rPr>
              <a:t>•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165EA0"/>
                </a:solidFill>
              </a:rPr>
              <a:t>Using more advanced models </a:t>
            </a:r>
            <a:endParaRPr lang="ar-EG" sz="3200" dirty="0">
              <a:solidFill>
                <a:srgbClr val="165EA0"/>
              </a:solidFill>
            </a:endParaRPr>
          </a:p>
          <a:p>
            <a:r>
              <a:rPr lang="ar-EG" sz="3200" dirty="0">
                <a:solidFill>
                  <a:srgbClr val="165EA0"/>
                </a:solidFill>
              </a:rPr>
              <a:t>	</a:t>
            </a:r>
            <a:r>
              <a:rPr lang="en-US" sz="3200" dirty="0">
                <a:solidFill>
                  <a:srgbClr val="165EA0"/>
                </a:solidFill>
              </a:rPr>
              <a:t>• Hyperparameter tuning </a:t>
            </a:r>
            <a:endParaRPr lang="ar-EG" sz="3200" dirty="0">
              <a:solidFill>
                <a:srgbClr val="165EA0"/>
              </a:solidFill>
            </a:endParaRPr>
          </a:p>
          <a:p>
            <a:r>
              <a:rPr lang="ar-EG" sz="3200" dirty="0">
                <a:solidFill>
                  <a:srgbClr val="165EA0"/>
                </a:solidFill>
              </a:rPr>
              <a:t>	</a:t>
            </a:r>
            <a:r>
              <a:rPr lang="en-US" sz="3200" dirty="0">
                <a:solidFill>
                  <a:srgbClr val="165EA0"/>
                </a:solidFill>
              </a:rPr>
              <a:t>• Deploying the model in a real-world system 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A4DB30B8-2F62-49D2-1119-88901F4C2A25}"/>
              </a:ext>
            </a:extLst>
          </p:cNvPr>
          <p:cNvSpPr/>
          <p:nvPr/>
        </p:nvSpPr>
        <p:spPr>
          <a:xfrm flipH="1">
            <a:off x="11785081" y="7620"/>
            <a:ext cx="6540207" cy="7694361"/>
          </a:xfrm>
          <a:custGeom>
            <a:avLst/>
            <a:gdLst/>
            <a:ahLst/>
            <a:cxnLst/>
            <a:rect l="l" t="t" r="r" b="b"/>
            <a:pathLst>
              <a:path w="6540207" h="7694361">
                <a:moveTo>
                  <a:pt x="0" y="0"/>
                </a:moveTo>
                <a:lnTo>
                  <a:pt x="6540207" y="0"/>
                </a:lnTo>
                <a:lnTo>
                  <a:pt x="6540207" y="7694361"/>
                </a:lnTo>
                <a:lnTo>
                  <a:pt x="0" y="7694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CD018611-497B-C1E2-9461-09B4475B92CF}"/>
              </a:ext>
            </a:extLst>
          </p:cNvPr>
          <p:cNvSpPr/>
          <p:nvPr/>
        </p:nvSpPr>
        <p:spPr>
          <a:xfrm flipH="1" flipV="1">
            <a:off x="12335156" y="4352695"/>
            <a:ext cx="5724244" cy="6734405"/>
          </a:xfrm>
          <a:custGeom>
            <a:avLst/>
            <a:gdLst/>
            <a:ahLst/>
            <a:cxnLst/>
            <a:rect l="l" t="t" r="r" b="b"/>
            <a:pathLst>
              <a:path w="5724244" h="6734405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18">
            <a:extLst>
              <a:ext uri="{FF2B5EF4-FFF2-40B4-BE49-F238E27FC236}">
                <a16:creationId xmlns:a16="http://schemas.microsoft.com/office/drawing/2014/main" id="{B4A8A559-A8F8-859B-F5B7-470E45D457CA}"/>
              </a:ext>
            </a:extLst>
          </p:cNvPr>
          <p:cNvSpPr/>
          <p:nvPr/>
        </p:nvSpPr>
        <p:spPr>
          <a:xfrm>
            <a:off x="0" y="0"/>
            <a:ext cx="3214829" cy="3782152"/>
          </a:xfrm>
          <a:custGeom>
            <a:avLst/>
            <a:gdLst/>
            <a:ahLst/>
            <a:cxnLst/>
            <a:rect l="l" t="t" r="r" b="b"/>
            <a:pathLst>
              <a:path w="3214829" h="3782152">
                <a:moveTo>
                  <a:pt x="0" y="0"/>
                </a:moveTo>
                <a:lnTo>
                  <a:pt x="3214829" y="0"/>
                </a:lnTo>
                <a:lnTo>
                  <a:pt x="3214829" y="3782152"/>
                </a:lnTo>
                <a:lnTo>
                  <a:pt x="0" y="3782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79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F2DD772F-6B3F-7970-CD47-1FDB38AC49EB}"/>
              </a:ext>
            </a:extLst>
          </p:cNvPr>
          <p:cNvSpPr txBox="1"/>
          <p:nvPr/>
        </p:nvSpPr>
        <p:spPr>
          <a:xfrm>
            <a:off x="3276600" y="2889036"/>
            <a:ext cx="13563600" cy="4508927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>
                    <a:lumMod val="50000"/>
                  </a:schemeClr>
                </a:solidFill>
                <a:latin typeface="Bebas Neue Cyrillic" panose="020B0604020202020204" charset="0"/>
              </a:rPr>
              <a:t>Thank You</a:t>
            </a:r>
          </a:p>
        </p:txBody>
      </p:sp>
      <p:sp>
        <p:nvSpPr>
          <p:cNvPr id="29" name="Freeform 2">
            <a:extLst>
              <a:ext uri="{FF2B5EF4-FFF2-40B4-BE49-F238E27FC236}">
                <a16:creationId xmlns:a16="http://schemas.microsoft.com/office/drawing/2014/main" id="{1C2832FA-7E2B-5923-A50E-985810D26249}"/>
              </a:ext>
            </a:extLst>
          </p:cNvPr>
          <p:cNvSpPr/>
          <p:nvPr/>
        </p:nvSpPr>
        <p:spPr>
          <a:xfrm>
            <a:off x="-304800" y="-419100"/>
            <a:ext cx="6540207" cy="7694361"/>
          </a:xfrm>
          <a:custGeom>
            <a:avLst/>
            <a:gdLst/>
            <a:ahLst/>
            <a:cxnLst/>
            <a:rect l="l" t="t" r="r" b="b"/>
            <a:pathLst>
              <a:path w="6540207" h="7694361">
                <a:moveTo>
                  <a:pt x="0" y="0"/>
                </a:moveTo>
                <a:lnTo>
                  <a:pt x="6540207" y="0"/>
                </a:lnTo>
                <a:lnTo>
                  <a:pt x="6540207" y="7694361"/>
                </a:lnTo>
                <a:lnTo>
                  <a:pt x="0" y="76943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C536B4CC-BAD5-47CF-40B8-2A6788D0097A}"/>
              </a:ext>
            </a:extLst>
          </p:cNvPr>
          <p:cNvSpPr/>
          <p:nvPr/>
        </p:nvSpPr>
        <p:spPr>
          <a:xfrm flipV="1">
            <a:off x="0" y="3925975"/>
            <a:ext cx="5724244" cy="6734405"/>
          </a:xfrm>
          <a:custGeom>
            <a:avLst/>
            <a:gdLst/>
            <a:ahLst/>
            <a:cxnLst/>
            <a:rect l="l" t="t" r="r" b="b"/>
            <a:pathLst>
              <a:path w="5724244" h="6734405">
                <a:moveTo>
                  <a:pt x="0" y="6734405"/>
                </a:moveTo>
                <a:lnTo>
                  <a:pt x="5724245" y="6734405"/>
                </a:lnTo>
                <a:lnTo>
                  <a:pt x="5724245" y="0"/>
                </a:lnTo>
                <a:lnTo>
                  <a:pt x="0" y="0"/>
                </a:lnTo>
                <a:lnTo>
                  <a:pt x="0" y="67344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1508</Words>
  <Application>Microsoft Office PowerPoint</Application>
  <PresentationFormat>Custom</PresentationFormat>
  <Paragraphs>164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Calibri</vt:lpstr>
      <vt:lpstr>Abadi</vt:lpstr>
      <vt:lpstr>Aptos</vt:lpstr>
      <vt:lpstr>Arial</vt:lpstr>
      <vt:lpstr>Bebas Neue Cyrillic</vt:lpstr>
      <vt:lpstr>HK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Modern Company Profile Presentation</dc:title>
  <cp:lastModifiedBy>Youssef Ayed</cp:lastModifiedBy>
  <cp:revision>4</cp:revision>
  <dcterms:created xsi:type="dcterms:W3CDTF">2006-08-16T00:00:00Z</dcterms:created>
  <dcterms:modified xsi:type="dcterms:W3CDTF">2026-04-30T23:13:11Z</dcterms:modified>
  <dc:identifier>DAHISLWWPt0</dc:identifier>
</cp:coreProperties>
</file>